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39D114-569D-4120-ABD9-AA7F867947F7}" v="145" dt="2025-11-16T18:56:19.356"/>
    <p1510:client id="{C3D2F777-F99B-443B-9FEC-9933DB897D0B}" v="354" dt="2025-11-16T19:25:30.7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E160B0D-1883-4432-8247-3179336924F4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28F9ED-2B10-48CC-8D83-4A40E77CE73D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Entidades Principales: 10 Tablas (Cliente, Reserva, Habitación, Empleado, Servicio, etc.) .</a:t>
          </a:r>
          <a:endParaRPr lang="en-US" dirty="0"/>
        </a:p>
      </dgm:t>
    </dgm:pt>
    <dgm:pt modelId="{8E242ABF-E4F9-4F80-8B71-04C271401C7C}" type="parTrans" cxnId="{68AD0669-6045-4291-80BA-5BE0C6F20832}">
      <dgm:prSet/>
      <dgm:spPr/>
      <dgm:t>
        <a:bodyPr/>
        <a:lstStyle/>
        <a:p>
          <a:endParaRPr lang="en-US"/>
        </a:p>
      </dgm:t>
    </dgm:pt>
    <dgm:pt modelId="{543BF3A5-ED99-4DB6-ABA7-E0BC4C4DB66F}" type="sibTrans" cxnId="{68AD0669-6045-4291-80BA-5BE0C6F20832}">
      <dgm:prSet/>
      <dgm:spPr/>
      <dgm:t>
        <a:bodyPr/>
        <a:lstStyle/>
        <a:p>
          <a:endParaRPr lang="en-US"/>
        </a:p>
      </dgm:t>
    </dgm:pt>
    <dgm:pt modelId="{5295B17B-14DA-44E2-A5C9-C07D53A408A6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Integridad Referencial: Uso de 12 FOREIGN </a:t>
          </a:r>
          <a:r>
            <a:rPr lang="es-ES" dirty="0" err="1"/>
            <a:t>KEYs</a:t>
          </a:r>
          <a:r>
            <a:rPr lang="es-ES" dirty="0"/>
            <a:t> para garantizar la consistencia de los datos.</a:t>
          </a:r>
          <a:endParaRPr lang="en-US" dirty="0"/>
        </a:p>
      </dgm:t>
    </dgm:pt>
    <dgm:pt modelId="{44ABA928-1B67-4B70-9EC4-507FCBF4BC96}" type="parTrans" cxnId="{69460F0D-42E7-420E-82AC-2BF732C86609}">
      <dgm:prSet/>
      <dgm:spPr/>
      <dgm:t>
        <a:bodyPr/>
        <a:lstStyle/>
        <a:p>
          <a:endParaRPr lang="en-US"/>
        </a:p>
      </dgm:t>
    </dgm:pt>
    <dgm:pt modelId="{4B345200-1FD0-446D-8E9C-3810B7F78ED9}" type="sibTrans" cxnId="{69460F0D-42E7-420E-82AC-2BF732C86609}">
      <dgm:prSet/>
      <dgm:spPr/>
      <dgm:t>
        <a:bodyPr/>
        <a:lstStyle/>
        <a:p>
          <a:endParaRPr lang="en-US"/>
        </a:p>
      </dgm:t>
    </dgm:pt>
    <dgm:pt modelId="{D3FA6FA4-AEC1-4F03-AF82-E1BCD736D9C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Resolución M:N: Se emplearon Tablas de Enlace (</a:t>
          </a:r>
          <a:r>
            <a:rPr lang="es-ES" dirty="0" err="1"/>
            <a:t>empleado_reserva</a:t>
          </a:r>
          <a:r>
            <a:rPr lang="es-ES" dirty="0"/>
            <a:t>, </a:t>
          </a:r>
          <a:r>
            <a:rPr lang="es-ES" dirty="0" err="1"/>
            <a:t>habitacion_servicio</a:t>
          </a:r>
          <a:r>
            <a:rPr lang="es-ES" dirty="0" err="1">
              <a:latin typeface="Avenir Next LT Pro"/>
            </a:rPr>
            <a:t>,reservas</a:t>
          </a:r>
          <a:r>
            <a:rPr lang="es-ES" dirty="0">
              <a:latin typeface="Avenir Next LT Pro"/>
            </a:rPr>
            <a:t>)</a:t>
          </a:r>
          <a:r>
            <a:rPr lang="es-ES" dirty="0"/>
            <a:t> para evitar redundancia. Ejemplo:</a:t>
          </a:r>
          <a:endParaRPr lang="en-US" dirty="0"/>
        </a:p>
      </dgm:t>
    </dgm:pt>
    <dgm:pt modelId="{05585328-4E2C-4D49-8E18-FFCF9AE722D5}" type="parTrans" cxnId="{E81ECD88-E653-45FF-AFB7-C72ACCCFA5BC}">
      <dgm:prSet/>
      <dgm:spPr/>
      <dgm:t>
        <a:bodyPr/>
        <a:lstStyle/>
        <a:p>
          <a:endParaRPr lang="en-US"/>
        </a:p>
      </dgm:t>
    </dgm:pt>
    <dgm:pt modelId="{F77A7DB1-1717-4A3B-ACFE-41FA26412AC0}" type="sibTrans" cxnId="{E81ECD88-E653-45FF-AFB7-C72ACCCFA5BC}">
      <dgm:prSet/>
      <dgm:spPr/>
      <dgm:t>
        <a:bodyPr/>
        <a:lstStyle/>
        <a:p>
          <a:endParaRPr lang="en-US"/>
        </a:p>
      </dgm:t>
    </dgm:pt>
    <dgm:pt modelId="{A83F82B5-BFF1-4845-BA32-55582604EB05}" type="pres">
      <dgm:prSet presAssocID="{EE160B0D-1883-4432-8247-3179336924F4}" presName="root" presStyleCnt="0">
        <dgm:presLayoutVars>
          <dgm:dir/>
          <dgm:resizeHandles val="exact"/>
        </dgm:presLayoutVars>
      </dgm:prSet>
      <dgm:spPr/>
    </dgm:pt>
    <dgm:pt modelId="{63E7600C-A8EB-4760-98B8-FA126A80ADA8}" type="pres">
      <dgm:prSet presAssocID="{5828F9ED-2B10-48CC-8D83-4A40E77CE73D}" presName="compNode" presStyleCnt="0"/>
      <dgm:spPr/>
    </dgm:pt>
    <dgm:pt modelId="{0D48DC24-2063-4D4A-B80C-39AB39A81521}" type="pres">
      <dgm:prSet presAssocID="{5828F9ED-2B10-48CC-8D83-4A40E77CE73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3CD424F8-3584-4A06-AF99-2CC95EEDCF81}" type="pres">
      <dgm:prSet presAssocID="{5828F9ED-2B10-48CC-8D83-4A40E77CE73D}" presName="spaceRect" presStyleCnt="0"/>
      <dgm:spPr/>
    </dgm:pt>
    <dgm:pt modelId="{6F302B0F-F186-49BF-BF3E-057A39DDDF77}" type="pres">
      <dgm:prSet presAssocID="{5828F9ED-2B10-48CC-8D83-4A40E77CE73D}" presName="textRect" presStyleLbl="revTx" presStyleIdx="0" presStyleCnt="3">
        <dgm:presLayoutVars>
          <dgm:chMax val="1"/>
          <dgm:chPref val="1"/>
        </dgm:presLayoutVars>
      </dgm:prSet>
      <dgm:spPr/>
    </dgm:pt>
    <dgm:pt modelId="{EBD3AE93-7105-4BE4-9EAE-5B0F95E0B4EB}" type="pres">
      <dgm:prSet presAssocID="{543BF3A5-ED99-4DB6-ABA7-E0BC4C4DB66F}" presName="sibTrans" presStyleCnt="0"/>
      <dgm:spPr/>
    </dgm:pt>
    <dgm:pt modelId="{0BFA9130-1E4E-4535-BB5D-B5DABE4A2EA7}" type="pres">
      <dgm:prSet presAssocID="{5295B17B-14DA-44E2-A5C9-C07D53A408A6}" presName="compNode" presStyleCnt="0"/>
      <dgm:spPr/>
    </dgm:pt>
    <dgm:pt modelId="{874B29BC-4C61-4866-BD49-1C7C9C89EE8F}" type="pres">
      <dgm:prSet presAssocID="{5295B17B-14DA-44E2-A5C9-C07D53A408A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F4A3DD4F-676A-4B7B-9C5C-6C772F403FA8}" type="pres">
      <dgm:prSet presAssocID="{5295B17B-14DA-44E2-A5C9-C07D53A408A6}" presName="spaceRect" presStyleCnt="0"/>
      <dgm:spPr/>
    </dgm:pt>
    <dgm:pt modelId="{48AAF423-A0F8-4D85-8AA5-25EE7F1DC39F}" type="pres">
      <dgm:prSet presAssocID="{5295B17B-14DA-44E2-A5C9-C07D53A408A6}" presName="textRect" presStyleLbl="revTx" presStyleIdx="1" presStyleCnt="3">
        <dgm:presLayoutVars>
          <dgm:chMax val="1"/>
          <dgm:chPref val="1"/>
        </dgm:presLayoutVars>
      </dgm:prSet>
      <dgm:spPr/>
    </dgm:pt>
    <dgm:pt modelId="{2492319E-3467-4B23-8A5F-BE192CCC0BDC}" type="pres">
      <dgm:prSet presAssocID="{4B345200-1FD0-446D-8E9C-3810B7F78ED9}" presName="sibTrans" presStyleCnt="0"/>
      <dgm:spPr/>
    </dgm:pt>
    <dgm:pt modelId="{1352C146-CE14-43CC-90EB-EEF9CBC34736}" type="pres">
      <dgm:prSet presAssocID="{D3FA6FA4-AEC1-4F03-AF82-E1BCD736D9CA}" presName="compNode" presStyleCnt="0"/>
      <dgm:spPr/>
    </dgm:pt>
    <dgm:pt modelId="{F53B44D4-264F-4B6F-A1C8-2080016A00A5}" type="pres">
      <dgm:prSet presAssocID="{D3FA6FA4-AEC1-4F03-AF82-E1BCD736D9C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ocial Network"/>
        </a:ext>
      </dgm:extLst>
    </dgm:pt>
    <dgm:pt modelId="{447636FB-A6A5-4563-8102-9D5807E20C87}" type="pres">
      <dgm:prSet presAssocID="{D3FA6FA4-AEC1-4F03-AF82-E1BCD736D9CA}" presName="spaceRect" presStyleCnt="0"/>
      <dgm:spPr/>
    </dgm:pt>
    <dgm:pt modelId="{0C80365B-62D5-4933-A1E4-056B665F2084}" type="pres">
      <dgm:prSet presAssocID="{D3FA6FA4-AEC1-4F03-AF82-E1BCD736D9C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69460F0D-42E7-420E-82AC-2BF732C86609}" srcId="{EE160B0D-1883-4432-8247-3179336924F4}" destId="{5295B17B-14DA-44E2-A5C9-C07D53A408A6}" srcOrd="1" destOrd="0" parTransId="{44ABA928-1B67-4B70-9EC4-507FCBF4BC96}" sibTransId="{4B345200-1FD0-446D-8E9C-3810B7F78ED9}"/>
    <dgm:cxn modelId="{4598A91E-E488-4F18-BD87-E9E50801DCBC}" type="presOf" srcId="{D3FA6FA4-AEC1-4F03-AF82-E1BCD736D9CA}" destId="{0C80365B-62D5-4933-A1E4-056B665F2084}" srcOrd="0" destOrd="0" presId="urn:microsoft.com/office/officeart/2018/2/layout/IconLabelList"/>
    <dgm:cxn modelId="{68AD0669-6045-4291-80BA-5BE0C6F20832}" srcId="{EE160B0D-1883-4432-8247-3179336924F4}" destId="{5828F9ED-2B10-48CC-8D83-4A40E77CE73D}" srcOrd="0" destOrd="0" parTransId="{8E242ABF-E4F9-4F80-8B71-04C271401C7C}" sibTransId="{543BF3A5-ED99-4DB6-ABA7-E0BC4C4DB66F}"/>
    <dgm:cxn modelId="{DB2B9A80-00AA-4558-BCB7-970B0B85A2BD}" type="presOf" srcId="{EE160B0D-1883-4432-8247-3179336924F4}" destId="{A83F82B5-BFF1-4845-BA32-55582604EB05}" srcOrd="0" destOrd="0" presId="urn:microsoft.com/office/officeart/2018/2/layout/IconLabelList"/>
    <dgm:cxn modelId="{E81ECD88-E653-45FF-AFB7-C72ACCCFA5BC}" srcId="{EE160B0D-1883-4432-8247-3179336924F4}" destId="{D3FA6FA4-AEC1-4F03-AF82-E1BCD736D9CA}" srcOrd="2" destOrd="0" parTransId="{05585328-4E2C-4D49-8E18-FFCF9AE722D5}" sibTransId="{F77A7DB1-1717-4A3B-ACFE-41FA26412AC0}"/>
    <dgm:cxn modelId="{26568AB7-AA6F-4278-8814-FC2F4A3A622C}" type="presOf" srcId="{5828F9ED-2B10-48CC-8D83-4A40E77CE73D}" destId="{6F302B0F-F186-49BF-BF3E-057A39DDDF77}" srcOrd="0" destOrd="0" presId="urn:microsoft.com/office/officeart/2018/2/layout/IconLabelList"/>
    <dgm:cxn modelId="{92E2D0FB-EDF7-4295-8127-2F8F38D4A573}" type="presOf" srcId="{5295B17B-14DA-44E2-A5C9-C07D53A408A6}" destId="{48AAF423-A0F8-4D85-8AA5-25EE7F1DC39F}" srcOrd="0" destOrd="0" presId="urn:microsoft.com/office/officeart/2018/2/layout/IconLabelList"/>
    <dgm:cxn modelId="{A1622E36-7815-4993-925D-42F959E2D711}" type="presParOf" srcId="{A83F82B5-BFF1-4845-BA32-55582604EB05}" destId="{63E7600C-A8EB-4760-98B8-FA126A80ADA8}" srcOrd="0" destOrd="0" presId="urn:microsoft.com/office/officeart/2018/2/layout/IconLabelList"/>
    <dgm:cxn modelId="{A44273BF-A84D-4DD3-8A20-0FEA8CCB9DDF}" type="presParOf" srcId="{63E7600C-A8EB-4760-98B8-FA126A80ADA8}" destId="{0D48DC24-2063-4D4A-B80C-39AB39A81521}" srcOrd="0" destOrd="0" presId="urn:microsoft.com/office/officeart/2018/2/layout/IconLabelList"/>
    <dgm:cxn modelId="{B5C45011-A50D-40DA-A020-A35A7728A03B}" type="presParOf" srcId="{63E7600C-A8EB-4760-98B8-FA126A80ADA8}" destId="{3CD424F8-3584-4A06-AF99-2CC95EEDCF81}" srcOrd="1" destOrd="0" presId="urn:microsoft.com/office/officeart/2018/2/layout/IconLabelList"/>
    <dgm:cxn modelId="{7F2CADAC-B2B2-4499-B6B9-9BFA9AC177E8}" type="presParOf" srcId="{63E7600C-A8EB-4760-98B8-FA126A80ADA8}" destId="{6F302B0F-F186-49BF-BF3E-057A39DDDF77}" srcOrd="2" destOrd="0" presId="urn:microsoft.com/office/officeart/2018/2/layout/IconLabelList"/>
    <dgm:cxn modelId="{DB382533-4B1B-4762-9F2C-2339CC94C547}" type="presParOf" srcId="{A83F82B5-BFF1-4845-BA32-55582604EB05}" destId="{EBD3AE93-7105-4BE4-9EAE-5B0F95E0B4EB}" srcOrd="1" destOrd="0" presId="urn:microsoft.com/office/officeart/2018/2/layout/IconLabelList"/>
    <dgm:cxn modelId="{A0E2E553-A201-43E8-9A2D-072119AC5EE0}" type="presParOf" srcId="{A83F82B5-BFF1-4845-BA32-55582604EB05}" destId="{0BFA9130-1E4E-4535-BB5D-B5DABE4A2EA7}" srcOrd="2" destOrd="0" presId="urn:microsoft.com/office/officeart/2018/2/layout/IconLabelList"/>
    <dgm:cxn modelId="{B168132B-E74D-46E9-9AAB-34460CB26BBD}" type="presParOf" srcId="{0BFA9130-1E4E-4535-BB5D-B5DABE4A2EA7}" destId="{874B29BC-4C61-4866-BD49-1C7C9C89EE8F}" srcOrd="0" destOrd="0" presId="urn:microsoft.com/office/officeart/2018/2/layout/IconLabelList"/>
    <dgm:cxn modelId="{14CAF983-53BA-4C7B-BCA1-B9DA32D8A2E1}" type="presParOf" srcId="{0BFA9130-1E4E-4535-BB5D-B5DABE4A2EA7}" destId="{F4A3DD4F-676A-4B7B-9C5C-6C772F403FA8}" srcOrd="1" destOrd="0" presId="urn:microsoft.com/office/officeart/2018/2/layout/IconLabelList"/>
    <dgm:cxn modelId="{A02328E2-CCF6-457D-A986-FA6769120D54}" type="presParOf" srcId="{0BFA9130-1E4E-4535-BB5D-B5DABE4A2EA7}" destId="{48AAF423-A0F8-4D85-8AA5-25EE7F1DC39F}" srcOrd="2" destOrd="0" presId="urn:microsoft.com/office/officeart/2018/2/layout/IconLabelList"/>
    <dgm:cxn modelId="{834D5806-DEF6-4BE4-9C6F-EDCD8BD44F91}" type="presParOf" srcId="{A83F82B5-BFF1-4845-BA32-55582604EB05}" destId="{2492319E-3467-4B23-8A5F-BE192CCC0BDC}" srcOrd="3" destOrd="0" presId="urn:microsoft.com/office/officeart/2018/2/layout/IconLabelList"/>
    <dgm:cxn modelId="{A6A8E42E-C122-451B-9AA6-16CE66E22344}" type="presParOf" srcId="{A83F82B5-BFF1-4845-BA32-55582604EB05}" destId="{1352C146-CE14-43CC-90EB-EEF9CBC34736}" srcOrd="4" destOrd="0" presId="urn:microsoft.com/office/officeart/2018/2/layout/IconLabelList"/>
    <dgm:cxn modelId="{68A13602-36F4-4626-A86F-1D4BACDE67B1}" type="presParOf" srcId="{1352C146-CE14-43CC-90EB-EEF9CBC34736}" destId="{F53B44D4-264F-4B6F-A1C8-2080016A00A5}" srcOrd="0" destOrd="0" presId="urn:microsoft.com/office/officeart/2018/2/layout/IconLabelList"/>
    <dgm:cxn modelId="{F2F314E6-5663-4F68-91F7-B83F8585ECB2}" type="presParOf" srcId="{1352C146-CE14-43CC-90EB-EEF9CBC34736}" destId="{447636FB-A6A5-4563-8102-9D5807E20C87}" srcOrd="1" destOrd="0" presId="urn:microsoft.com/office/officeart/2018/2/layout/IconLabelList"/>
    <dgm:cxn modelId="{1B3EF7FB-3FC2-4416-8885-C8B7C97E0DFA}" type="presParOf" srcId="{1352C146-CE14-43CC-90EB-EEF9CBC34736}" destId="{0C80365B-62D5-4933-A1E4-056B665F2084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48DC24-2063-4D4A-B80C-39AB39A81521}">
      <dsp:nvSpPr>
        <dsp:cNvPr id="0" name=""/>
        <dsp:cNvSpPr/>
      </dsp:nvSpPr>
      <dsp:spPr>
        <a:xfrm>
          <a:off x="992889" y="705477"/>
          <a:ext cx="1463222" cy="146322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302B0F-F186-49BF-BF3E-057A39DDDF77}">
      <dsp:nvSpPr>
        <dsp:cNvPr id="0" name=""/>
        <dsp:cNvSpPr/>
      </dsp:nvSpPr>
      <dsp:spPr>
        <a:xfrm>
          <a:off x="98698" y="2554147"/>
          <a:ext cx="325160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kern="1200" dirty="0"/>
            <a:t>Entidades Principales: 10 Tablas (Cliente, Reserva, Habitación, Empleado, Servicio, etc.) .</a:t>
          </a:r>
          <a:endParaRPr lang="en-US" sz="1100" kern="1200" dirty="0"/>
        </a:p>
      </dsp:txBody>
      <dsp:txXfrm>
        <a:off x="98698" y="2554147"/>
        <a:ext cx="3251605" cy="720000"/>
      </dsp:txXfrm>
    </dsp:sp>
    <dsp:sp modelId="{874B29BC-4C61-4866-BD49-1C7C9C89EE8F}">
      <dsp:nvSpPr>
        <dsp:cNvPr id="0" name=""/>
        <dsp:cNvSpPr/>
      </dsp:nvSpPr>
      <dsp:spPr>
        <a:xfrm>
          <a:off x="4813525" y="705477"/>
          <a:ext cx="1463222" cy="146322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AAF423-A0F8-4D85-8AA5-25EE7F1DC39F}">
      <dsp:nvSpPr>
        <dsp:cNvPr id="0" name=""/>
        <dsp:cNvSpPr/>
      </dsp:nvSpPr>
      <dsp:spPr>
        <a:xfrm>
          <a:off x="3919334" y="2554147"/>
          <a:ext cx="325160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kern="1200" dirty="0"/>
            <a:t>Integridad Referencial: Uso de 12 FOREIGN </a:t>
          </a:r>
          <a:r>
            <a:rPr lang="es-ES" sz="1100" kern="1200" dirty="0" err="1"/>
            <a:t>KEYs</a:t>
          </a:r>
          <a:r>
            <a:rPr lang="es-ES" sz="1100" kern="1200" dirty="0"/>
            <a:t> para garantizar la consistencia de los datos.</a:t>
          </a:r>
          <a:endParaRPr lang="en-US" sz="1100" kern="1200" dirty="0"/>
        </a:p>
      </dsp:txBody>
      <dsp:txXfrm>
        <a:off x="3919334" y="2554147"/>
        <a:ext cx="3251605" cy="720000"/>
      </dsp:txXfrm>
    </dsp:sp>
    <dsp:sp modelId="{F53B44D4-264F-4B6F-A1C8-2080016A00A5}">
      <dsp:nvSpPr>
        <dsp:cNvPr id="0" name=""/>
        <dsp:cNvSpPr/>
      </dsp:nvSpPr>
      <dsp:spPr>
        <a:xfrm>
          <a:off x="8634162" y="705477"/>
          <a:ext cx="1463222" cy="146322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80365B-62D5-4933-A1E4-056B665F2084}">
      <dsp:nvSpPr>
        <dsp:cNvPr id="0" name=""/>
        <dsp:cNvSpPr/>
      </dsp:nvSpPr>
      <dsp:spPr>
        <a:xfrm>
          <a:off x="7739970" y="2554147"/>
          <a:ext cx="325160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kern="1200" dirty="0"/>
            <a:t>Resolución M:N: Se emplearon Tablas de Enlace (</a:t>
          </a:r>
          <a:r>
            <a:rPr lang="es-ES" sz="1100" kern="1200" dirty="0" err="1"/>
            <a:t>empleado_reserva</a:t>
          </a:r>
          <a:r>
            <a:rPr lang="es-ES" sz="1100" kern="1200" dirty="0"/>
            <a:t>, </a:t>
          </a:r>
          <a:r>
            <a:rPr lang="es-ES" sz="1100" kern="1200" dirty="0" err="1"/>
            <a:t>habitacion_servicio</a:t>
          </a:r>
          <a:r>
            <a:rPr lang="es-ES" sz="1100" kern="1200" dirty="0" err="1">
              <a:latin typeface="Avenir Next LT Pro"/>
            </a:rPr>
            <a:t>,reservas</a:t>
          </a:r>
          <a:r>
            <a:rPr lang="es-ES" sz="1100" kern="1200" dirty="0">
              <a:latin typeface="Avenir Next LT Pro"/>
            </a:rPr>
            <a:t>)</a:t>
          </a:r>
          <a:r>
            <a:rPr lang="es-ES" sz="1100" kern="1200" dirty="0"/>
            <a:t> para evitar redundancia. Ejemplo:</a:t>
          </a:r>
          <a:endParaRPr lang="en-US" sz="1100" kern="1200" dirty="0"/>
        </a:p>
      </dsp:txBody>
      <dsp:txXfrm>
        <a:off x="7739970" y="2554147"/>
        <a:ext cx="3251605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149" y="389840"/>
            <a:ext cx="8281987" cy="2954655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149" y="3536951"/>
            <a:ext cx="8281989" cy="255587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A7947-E287-4738-8C82-07CE4F01EF03}" type="datetime2">
              <a:rPr lang="en-US" smtClean="0"/>
              <a:t>Sunday, November 16, 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522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1600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113199"/>
            <a:ext cx="11090274" cy="3979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8C025-CD7A-4966-867E-81CF82B15267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02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56481" y="879007"/>
            <a:ext cx="734257" cy="760506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563" y="474345"/>
            <a:ext cx="11077574" cy="2954655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4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09929-0719-4517-94D6-FDF7F99E70F6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271" y="3629772"/>
            <a:ext cx="11074866" cy="2678953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209132" y="4448189"/>
            <a:ext cx="999200" cy="1262947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1686937" y="4853516"/>
            <a:ext cx="540000" cy="978284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480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4" cy="1332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5538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95673-5512-4AAA-9AEB-E00C61EC65D5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842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091612" y="5893466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1451612" y="5827878"/>
            <a:ext cx="379049" cy="360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7551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4" y="1881275"/>
            <a:ext cx="5437186" cy="535354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3" y="2577270"/>
            <a:ext cx="5429114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2024" y="1881275"/>
            <a:ext cx="5436392" cy="535354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00" b="0" cap="all" spc="20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2023" y="2577270"/>
            <a:ext cx="5436391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138FA-2E87-4873-8BBA-13E447C9A99A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043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49" y="550799"/>
            <a:ext cx="8283313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BB40A-97BD-4BFB-B639-0BFF95FDE8B7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10727" y="3958416"/>
            <a:ext cx="3536330" cy="1853969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81151" y="3649708"/>
            <a:ext cx="3478701" cy="2164843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12277" y="2840042"/>
            <a:ext cx="214196" cy="933178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780661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23181" y="1514007"/>
            <a:ext cx="734257" cy="760506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6347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9E0E3-ECF6-4CFE-8698-AEFEBCECC3C0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4949631" y="5111861"/>
            <a:ext cx="1262947" cy="133560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5" cy="984885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775" y="1750060"/>
            <a:ext cx="7345362" cy="434276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50060"/>
            <a:ext cx="3565525" cy="434276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462FC-960E-4740-921F-B36862979F21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17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34964" y="5115518"/>
            <a:ext cx="734257" cy="760506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75409"/>
            <a:ext cx="4500562" cy="984885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67324" y="575409"/>
            <a:ext cx="6373813" cy="573331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76195"/>
            <a:ext cx="4500562" cy="4532530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BC9E2-CB44-4C05-9BB5-496C18A241E0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52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03906"/>
            <a:ext cx="11090275" cy="133305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EBD84-71F4-4271-8C46-0D47C0A9B12E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91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E0CE1-F450-4107-B2CB-17B18F8A3F4A}" type="datetime2">
              <a:rPr lang="en-US" smtClean="0"/>
              <a:t>Sunday, November 16,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456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246CB39B-5F4C-4A7E-9BE3-AAFD45576D16}" type="datetime2">
              <a:rPr lang="en-US" smtClean="0"/>
              <a:t>Sunday, November 16, 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Sample Footer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748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sz="2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7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5931BE0-4B93-4D6C-878E-ACC59D6B4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CDCBC2F-6AF6-4DA2-AAE7-28B28928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435100"/>
            <a:ext cx="5437188" cy="3496214"/>
          </a:xfrm>
        </p:spPr>
        <p:txBody>
          <a:bodyPr vert="horz"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>
                <a:effectLst>
                  <a:glow rad="38100">
                    <a:prstClr val="black">
                      <a:lumMod val="65000"/>
                      <a:lumOff val="35000"/>
                      <a:alpha val="50000"/>
                    </a:prst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Proyecto: Diseño e Implementación de Base de Datos Hotelera</a:t>
            </a:r>
            <a:endParaRPr lang="en-US" sz="500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E6814F1-D1AC-450F-8036-E29A2B9CD3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0575" y="1522184"/>
            <a:ext cx="3581181" cy="4570641"/>
          </a:xfrm>
        </p:spPr>
        <p:txBody>
          <a:bodyPr vert="horz" wrap="square" lIns="0" tIns="0" rIns="0" bIns="0" rtlCol="0" anchor="t">
            <a:normAutofit/>
          </a:bodyPr>
          <a:lstStyle/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Objetivos</a:t>
            </a:r>
            <a:r>
              <a:rPr lang="en-US" sz="1600" b="1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: </a:t>
            </a:r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Gestionar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</a:t>
            </a:r>
            <a:r>
              <a:rPr lang="en-US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clientes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, </a:t>
            </a:r>
            <a:r>
              <a:rPr lang="en-US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reservas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, </a:t>
            </a:r>
            <a:r>
              <a:rPr lang="en-US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habitaciones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, </a:t>
            </a:r>
            <a:r>
              <a:rPr lang="en-US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servicios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y personal de </a:t>
            </a:r>
            <a:r>
              <a:rPr lang="en-US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varios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</a:t>
            </a:r>
            <a:r>
              <a:rPr lang="en-US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hoteles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.</a:t>
            </a:r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Tecnología</a:t>
            </a:r>
            <a:r>
              <a:rPr lang="en-US" sz="1600" b="1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:</a:t>
            </a:r>
            <a:endParaRPr lang="en-US" sz="1600" dirty="0">
              <a:solidFill>
                <a:schemeClr val="tx1">
                  <a:alpha val="60000"/>
                </a:schemeClr>
              </a:solidFill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Modelo </a:t>
            </a:r>
            <a:r>
              <a:rPr lang="en-US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Relacional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</a:t>
            </a:r>
            <a:r>
              <a:rPr lang="en-US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implementado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</a:t>
            </a:r>
            <a:r>
              <a:rPr lang="en-US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en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</a:t>
            </a:r>
            <a:r>
              <a:rPr lang="en-US" sz="1600" b="1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MySQL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.</a:t>
            </a:r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Profesores</a:t>
            </a:r>
            <a:r>
              <a:rPr lang="en-US" sz="1600" b="1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: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Alejandro Behringer, Juan Carlos </a:t>
            </a:r>
            <a:r>
              <a:rPr lang="en-US" sz="1600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Capia</a:t>
            </a:r>
            <a:endParaRPr lang="en-US" sz="1600" dirty="0">
              <a:solidFill>
                <a:schemeClr val="tx1">
                  <a:alpha val="60000"/>
                </a:schemeClr>
              </a:solidFill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Integrantes</a:t>
            </a:r>
            <a:r>
              <a:rPr lang="en-US" sz="1600" b="1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:</a:t>
            </a:r>
            <a:r>
              <a:rPr lang="en-US" sz="1600" dirty="0">
                <a:solidFill>
                  <a:schemeClr val="tx1">
                    <a:alpha val="60000"/>
                  </a:schemeClr>
                </a:soli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Pablo González, Gian Franco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262674-A504-4C90-BBBB-94D20F92A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54653" y="4120355"/>
            <a:ext cx="1237347" cy="1972470"/>
          </a:xfrm>
          <a:custGeom>
            <a:avLst/>
            <a:gdLst>
              <a:gd name="connsiteX0" fmla="*/ 986235 w 1237347"/>
              <a:gd name="connsiteY0" fmla="*/ 0 h 1972470"/>
              <a:gd name="connsiteX1" fmla="*/ 1184996 w 1237347"/>
              <a:gd name="connsiteY1" fmla="*/ 20037 h 1972470"/>
              <a:gd name="connsiteX2" fmla="*/ 1237347 w 1237347"/>
              <a:gd name="connsiteY2" fmla="*/ 33498 h 1972470"/>
              <a:gd name="connsiteX3" fmla="*/ 1237347 w 1237347"/>
              <a:gd name="connsiteY3" fmla="*/ 1938973 h 1972470"/>
              <a:gd name="connsiteX4" fmla="*/ 1184996 w 1237347"/>
              <a:gd name="connsiteY4" fmla="*/ 1952433 h 1972470"/>
              <a:gd name="connsiteX5" fmla="*/ 986235 w 1237347"/>
              <a:gd name="connsiteY5" fmla="*/ 1972470 h 1972470"/>
              <a:gd name="connsiteX6" fmla="*/ 0 w 1237347"/>
              <a:gd name="connsiteY6" fmla="*/ 986235 h 1972470"/>
              <a:gd name="connsiteX7" fmla="*/ 986235 w 1237347"/>
              <a:gd name="connsiteY7" fmla="*/ 0 h 1972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37347" h="1972470">
                <a:moveTo>
                  <a:pt x="986235" y="0"/>
                </a:moveTo>
                <a:cubicBezTo>
                  <a:pt x="1054320" y="0"/>
                  <a:pt x="1120794" y="6899"/>
                  <a:pt x="1184996" y="20037"/>
                </a:cubicBezTo>
                <a:lnTo>
                  <a:pt x="1237347" y="33498"/>
                </a:lnTo>
                <a:lnTo>
                  <a:pt x="1237347" y="1938973"/>
                </a:lnTo>
                <a:lnTo>
                  <a:pt x="1184996" y="1952433"/>
                </a:lnTo>
                <a:cubicBezTo>
                  <a:pt x="1120794" y="1965571"/>
                  <a:pt x="1054320" y="1972470"/>
                  <a:pt x="986235" y="1972470"/>
                </a:cubicBezTo>
                <a:cubicBezTo>
                  <a:pt x="441552" y="1972470"/>
                  <a:pt x="0" y="1530918"/>
                  <a:pt x="0" y="986235"/>
                </a:cubicBezTo>
                <a:cubicBezTo>
                  <a:pt x="0" y="441552"/>
                  <a:pt x="441552" y="0"/>
                  <a:pt x="986235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508000" dist="76200" dir="15480000">
              <a:schemeClr val="accent1">
                <a:lumMod val="60000"/>
                <a:lumOff val="40000"/>
                <a:alpha val="6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8861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F498A3-3BB2-BD49-FE06-8C0C56C17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Integridad y Relaciones</a:t>
            </a:r>
          </a:p>
        </p:txBody>
      </p:sp>
      <p:graphicFrame>
        <p:nvGraphicFramePr>
          <p:cNvPr id="7" name="Marcador de contenido 2">
            <a:extLst>
              <a:ext uri="{FF2B5EF4-FFF2-40B4-BE49-F238E27FC236}">
                <a16:creationId xmlns:a16="http://schemas.microsoft.com/office/drawing/2014/main" id="{A64E0324-EB6F-CF99-D969-F83685BC06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2922092"/>
              </p:ext>
            </p:extLst>
          </p:nvPr>
        </p:nvGraphicFramePr>
        <p:xfrm>
          <a:off x="550863" y="1213488"/>
          <a:ext cx="11090274" cy="3979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3A26607D-53DC-CAB7-31F7-531B5DF77A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56374" y="4314882"/>
            <a:ext cx="8677275" cy="254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283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931BE0-4B93-4D6C-878E-ACC59D6B4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C5A80E2-E657-3A04-106E-EFE40765B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1435100"/>
            <a:ext cx="5437188" cy="3496214"/>
          </a:xfrm>
        </p:spPr>
        <p:txBody>
          <a:bodyPr wrap="square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600">
                <a:ea typeface="+mj-lt"/>
                <a:cs typeface="+mj-lt"/>
              </a:rPr>
              <a:t>Automatización de Reglas y Control de Integridad</a:t>
            </a:r>
            <a:endParaRPr lang="es-ES" sz="560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FBA906-5B7C-3BD3-4DDE-C98E1685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0575" y="1522184"/>
            <a:ext cx="3581181" cy="4570641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s-ES" sz="1600" b="1" dirty="0">
                <a:ea typeface="+mn-lt"/>
                <a:cs typeface="+mn-lt"/>
              </a:rPr>
              <a:t>Función de </a:t>
            </a:r>
            <a:r>
              <a:rPr lang="es-ES" sz="1600" b="1" dirty="0" err="1">
                <a:ea typeface="+mn-lt"/>
                <a:cs typeface="+mn-lt"/>
              </a:rPr>
              <a:t>Triggers</a:t>
            </a:r>
            <a:r>
              <a:rPr lang="es-ES" sz="1600" b="1" dirty="0">
                <a:ea typeface="+mn-lt"/>
                <a:cs typeface="+mn-lt"/>
              </a:rPr>
              <a:t>: </a:t>
            </a:r>
            <a:r>
              <a:rPr lang="es-ES" sz="1600" dirty="0">
                <a:ea typeface="+mn-lt"/>
                <a:cs typeface="+mn-lt"/>
              </a:rPr>
              <a:t>Bloques de código que se ejecutan automáticamente en el servidor ante eventos DML.</a:t>
            </a:r>
          </a:p>
          <a:p>
            <a:pPr>
              <a:lnSpc>
                <a:spcPct val="100000"/>
              </a:lnSpc>
            </a:pPr>
            <a:r>
              <a:rPr lang="es-ES" sz="1600" b="1" dirty="0" err="1">
                <a:ea typeface="+mn-lt"/>
                <a:cs typeface="+mn-lt"/>
              </a:rPr>
              <a:t>Trigger</a:t>
            </a:r>
            <a:r>
              <a:rPr lang="es-ES" sz="1600" b="1" dirty="0">
                <a:ea typeface="+mn-lt"/>
                <a:cs typeface="+mn-lt"/>
              </a:rPr>
              <a:t> #1 (Salario)</a:t>
            </a:r>
            <a:r>
              <a:rPr lang="es-ES" sz="1600" b="1" dirty="0">
                <a:latin typeface="Avenir Next LT Pro"/>
              </a:rPr>
              <a:t> </a:t>
            </a:r>
            <a:r>
              <a:rPr lang="es-ES" sz="1600" dirty="0" err="1">
                <a:latin typeface="Consolas"/>
              </a:rPr>
              <a:t>empleado_aumento</a:t>
            </a:r>
            <a:r>
              <a:rPr lang="es-ES" sz="1600" dirty="0">
                <a:ea typeface="+mn-lt"/>
                <a:cs typeface="+mn-lt"/>
              </a:rPr>
              <a:t> (</a:t>
            </a:r>
            <a:r>
              <a:rPr lang="es-ES" sz="1600" dirty="0">
                <a:latin typeface="Consolas"/>
              </a:rPr>
              <a:t>BEFORE INSERT</a:t>
            </a:r>
            <a:r>
              <a:rPr lang="es-ES" sz="1600" dirty="0">
                <a:ea typeface="+mn-lt"/>
                <a:cs typeface="+mn-lt"/>
              </a:rPr>
              <a:t>): Aplica un aumento del 10% si el salario es bajo.</a:t>
            </a:r>
            <a:endParaRPr lang="es-ES" sz="1600" dirty="0">
              <a:solidFill>
                <a:srgbClr val="FFFFFF">
                  <a:alpha val="60000"/>
                </a:srgbClr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</a:pPr>
            <a:r>
              <a:rPr lang="es-ES" sz="1600" b="1" dirty="0" err="1">
                <a:ea typeface="+mn-lt"/>
                <a:cs typeface="+mn-lt"/>
              </a:rPr>
              <a:t>Trigger</a:t>
            </a:r>
            <a:r>
              <a:rPr lang="es-ES" sz="1600" b="1" dirty="0">
                <a:ea typeface="+mn-lt"/>
                <a:cs typeface="+mn-lt"/>
              </a:rPr>
              <a:t> #2 (Fechas)</a:t>
            </a:r>
            <a:r>
              <a:rPr lang="es-ES" sz="1600" b="1" dirty="0">
                <a:latin typeface="Avenir Next LT Pro"/>
              </a:rPr>
              <a:t> </a:t>
            </a:r>
            <a:r>
              <a:rPr lang="es-ES" sz="1600" b="1" dirty="0" err="1">
                <a:latin typeface="Consolas"/>
              </a:rPr>
              <a:t>TR_Reserva_Concurrencia</a:t>
            </a:r>
            <a:r>
              <a:rPr lang="es-ES" sz="1600" dirty="0">
                <a:ea typeface="+mn-lt"/>
                <a:cs typeface="+mn-lt"/>
              </a:rPr>
              <a:t> (</a:t>
            </a:r>
            <a:r>
              <a:rPr lang="es-ES" sz="1600" dirty="0">
                <a:latin typeface="Consolas"/>
              </a:rPr>
              <a:t>BEFORE INSERT</a:t>
            </a:r>
            <a:r>
              <a:rPr lang="es-ES" sz="1600" dirty="0">
                <a:ea typeface="+mn-lt"/>
                <a:cs typeface="+mn-lt"/>
              </a:rPr>
              <a:t>): Previene la superposición de reservas para la misma habitación.</a:t>
            </a:r>
          </a:p>
          <a:p>
            <a:pPr marL="0" indent="0">
              <a:lnSpc>
                <a:spcPct val="100000"/>
              </a:lnSpc>
              <a:buNone/>
            </a:pPr>
            <a:endParaRPr lang="es-ES" sz="160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3262674-A504-4C90-BBBB-94D20F92A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54653" y="4120355"/>
            <a:ext cx="1237347" cy="1972470"/>
          </a:xfrm>
          <a:custGeom>
            <a:avLst/>
            <a:gdLst>
              <a:gd name="connsiteX0" fmla="*/ 986235 w 1237347"/>
              <a:gd name="connsiteY0" fmla="*/ 0 h 1972470"/>
              <a:gd name="connsiteX1" fmla="*/ 1184996 w 1237347"/>
              <a:gd name="connsiteY1" fmla="*/ 20037 h 1972470"/>
              <a:gd name="connsiteX2" fmla="*/ 1237347 w 1237347"/>
              <a:gd name="connsiteY2" fmla="*/ 33498 h 1972470"/>
              <a:gd name="connsiteX3" fmla="*/ 1237347 w 1237347"/>
              <a:gd name="connsiteY3" fmla="*/ 1938973 h 1972470"/>
              <a:gd name="connsiteX4" fmla="*/ 1184996 w 1237347"/>
              <a:gd name="connsiteY4" fmla="*/ 1952433 h 1972470"/>
              <a:gd name="connsiteX5" fmla="*/ 986235 w 1237347"/>
              <a:gd name="connsiteY5" fmla="*/ 1972470 h 1972470"/>
              <a:gd name="connsiteX6" fmla="*/ 0 w 1237347"/>
              <a:gd name="connsiteY6" fmla="*/ 986235 h 1972470"/>
              <a:gd name="connsiteX7" fmla="*/ 986235 w 1237347"/>
              <a:gd name="connsiteY7" fmla="*/ 0 h 1972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37347" h="1972470">
                <a:moveTo>
                  <a:pt x="986235" y="0"/>
                </a:moveTo>
                <a:cubicBezTo>
                  <a:pt x="1054320" y="0"/>
                  <a:pt x="1120794" y="6899"/>
                  <a:pt x="1184996" y="20037"/>
                </a:cubicBezTo>
                <a:lnTo>
                  <a:pt x="1237347" y="33498"/>
                </a:lnTo>
                <a:lnTo>
                  <a:pt x="1237347" y="1938973"/>
                </a:lnTo>
                <a:lnTo>
                  <a:pt x="1184996" y="1952433"/>
                </a:lnTo>
                <a:cubicBezTo>
                  <a:pt x="1120794" y="1965571"/>
                  <a:pt x="1054320" y="1972470"/>
                  <a:pt x="986235" y="1972470"/>
                </a:cubicBezTo>
                <a:cubicBezTo>
                  <a:pt x="441552" y="1972470"/>
                  <a:pt x="0" y="1530918"/>
                  <a:pt x="0" y="986235"/>
                </a:cubicBezTo>
                <a:cubicBezTo>
                  <a:pt x="0" y="441552"/>
                  <a:pt x="441552" y="0"/>
                  <a:pt x="986235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508000" dist="76200" dir="15480000">
              <a:schemeClr val="accent1">
                <a:lumMod val="60000"/>
                <a:lumOff val="40000"/>
                <a:alpha val="6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26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A5931BE0-4B93-4D6C-878E-ACC59D6B4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672ABA-6E87-BE9B-D27B-50E6AB93B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80363"/>
            <a:ext cx="5437188" cy="1997855"/>
          </a:xfrm>
        </p:spPr>
        <p:txBody>
          <a:bodyPr wrap="square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s-ES">
                <a:ea typeface="+mj-lt"/>
                <a:cs typeface="+mj-lt"/>
              </a:rPr>
              <a:t>Consultas Estratégicas y Lógica Temporal</a:t>
            </a:r>
            <a:endParaRPr lang="es-ES"/>
          </a:p>
        </p:txBody>
      </p:sp>
      <p:sp>
        <p:nvSpPr>
          <p:cNvPr id="17" name="Oval 9">
            <a:extLst>
              <a:ext uri="{FF2B5EF4-FFF2-40B4-BE49-F238E27FC236}">
                <a16:creationId xmlns:a16="http://schemas.microsoft.com/office/drawing/2014/main" id="{6959C3E7-D59B-44C4-9BBD-3BC2A41A0C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151" y="3295640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54876B-FB01-4E58-9C9F-3D510011B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022329" y="4018501"/>
            <a:ext cx="1468514" cy="1521012"/>
            <a:chOff x="8926879" y="88028"/>
            <a:chExt cx="1468514" cy="1521012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6EE14B10-2C91-4CF8-ABB6-7E21AA98CC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800000">
              <a:off x="9153221" y="88028"/>
              <a:ext cx="1242172" cy="729202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4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A93B35E-1AB2-4CCC-91AC-122E57A18A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800000">
              <a:off x="8926879" y="221946"/>
              <a:ext cx="611884" cy="1076550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4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E9951197-11BD-489A-BF2C-E542541ABC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800000">
              <a:off x="9455555" y="532490"/>
              <a:ext cx="630288" cy="1076550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40000"/>
                    <a:lumOff val="60000"/>
                    <a:alpha val="6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508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86CFF9-7552-F036-C736-566C3B126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0575" y="1520825"/>
            <a:ext cx="4500562" cy="4572000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s-ES" sz="1900" b="1" dirty="0">
                <a:ea typeface="+mn-lt"/>
                <a:cs typeface="+mn-lt"/>
              </a:rPr>
              <a:t>Cálculos Financieros: </a:t>
            </a:r>
            <a:r>
              <a:rPr lang="es-ES" sz="1900" dirty="0">
                <a:ea typeface="+mn-lt"/>
                <a:cs typeface="+mn-lt"/>
              </a:rPr>
              <a:t>Hacemos uso de la Combinación de </a:t>
            </a:r>
            <a:r>
              <a:rPr lang="es-ES" sz="1900" dirty="0">
                <a:latin typeface="Consolas"/>
              </a:rPr>
              <a:t>DATEDIFF()</a:t>
            </a:r>
            <a:r>
              <a:rPr lang="es-ES" sz="1900" dirty="0">
                <a:ea typeface="+mn-lt"/>
                <a:cs typeface="+mn-lt"/>
              </a:rPr>
              <a:t>  y </a:t>
            </a:r>
            <a:r>
              <a:rPr lang="es-ES" sz="1900" dirty="0">
                <a:latin typeface="Consolas"/>
              </a:rPr>
              <a:t>SUM()</a:t>
            </a:r>
            <a:r>
              <a:rPr lang="es-ES" sz="1900" dirty="0">
                <a:ea typeface="+mn-lt"/>
                <a:cs typeface="+mn-lt"/>
              </a:rPr>
              <a:t> con </a:t>
            </a:r>
            <a:r>
              <a:rPr lang="es-ES" sz="1900" dirty="0">
                <a:latin typeface="Consolas"/>
              </a:rPr>
              <a:t>IFNULL()</a:t>
            </a:r>
            <a:r>
              <a:rPr lang="es-ES" sz="1900" dirty="0">
                <a:ea typeface="+mn-lt"/>
                <a:cs typeface="+mn-lt"/>
              </a:rPr>
              <a:t> para obtener el costo total exacto.</a:t>
            </a:r>
          </a:p>
          <a:p>
            <a:pPr>
              <a:lnSpc>
                <a:spcPct val="100000"/>
              </a:lnSpc>
            </a:pPr>
            <a:r>
              <a:rPr lang="es-ES" sz="1900" b="1" dirty="0">
                <a:ea typeface="+mn-lt"/>
                <a:cs typeface="+mn-lt"/>
              </a:rPr>
              <a:t>Lógica Temporal: </a:t>
            </a:r>
            <a:r>
              <a:rPr lang="es-ES" sz="1900" dirty="0">
                <a:ea typeface="+mn-lt"/>
                <a:cs typeface="+mn-lt"/>
              </a:rPr>
              <a:t>Uso de </a:t>
            </a:r>
            <a:r>
              <a:rPr lang="es-ES" sz="1900" dirty="0">
                <a:latin typeface="Consolas"/>
              </a:rPr>
              <a:t>CURDATE()</a:t>
            </a:r>
            <a:r>
              <a:rPr lang="es-ES" sz="1900" dirty="0">
                <a:ea typeface="+mn-lt"/>
                <a:cs typeface="+mn-lt"/>
              </a:rPr>
              <a:t> para identificar huéspedes activos o </a:t>
            </a:r>
            <a:r>
              <a:rPr lang="es-ES" sz="1900" dirty="0">
                <a:latin typeface="Consolas"/>
              </a:rPr>
              <a:t>DATE_ADD()</a:t>
            </a:r>
            <a:r>
              <a:rPr lang="es-ES" sz="1900" dirty="0">
                <a:ea typeface="+mn-lt"/>
                <a:cs typeface="+mn-lt"/>
              </a:rPr>
              <a:t> para proyectar vencimientos de reservas.</a:t>
            </a:r>
            <a:endParaRPr lang="es-ES" sz="1900" dirty="0">
              <a:solidFill>
                <a:srgbClr val="FFFFFF">
                  <a:alpha val="60000"/>
                </a:srgbClr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</a:pPr>
            <a:r>
              <a:rPr lang="es-ES" sz="1900" b="1" dirty="0">
                <a:ea typeface="+mn-lt"/>
                <a:cs typeface="+mn-lt"/>
              </a:rPr>
              <a:t>Agregación M:N: </a:t>
            </a:r>
            <a:r>
              <a:rPr lang="es-ES" sz="1900" dirty="0">
                <a:ea typeface="+mn-lt"/>
                <a:cs typeface="+mn-lt"/>
              </a:rPr>
              <a:t>En este usamos </a:t>
            </a:r>
            <a:r>
              <a:rPr lang="es-ES" sz="1900" dirty="0">
                <a:latin typeface="Consolas"/>
                <a:ea typeface="+mn-lt"/>
                <a:cs typeface="+mn-lt"/>
              </a:rPr>
              <a:t>COUNT</a:t>
            </a:r>
            <a:r>
              <a:rPr lang="es-ES" sz="1900" dirty="0">
                <a:latin typeface="Consolas"/>
              </a:rPr>
              <a:t>(DISTINCT...)</a:t>
            </a:r>
            <a:r>
              <a:rPr lang="es-ES" sz="1900" dirty="0">
                <a:ea typeface="+mn-lt"/>
                <a:cs typeface="+mn-lt"/>
              </a:rPr>
              <a:t> en la tabla de enlace (</a:t>
            </a:r>
            <a:r>
              <a:rPr lang="es-ES" sz="1900" dirty="0" err="1">
                <a:latin typeface="Consolas"/>
              </a:rPr>
              <a:t>empleado_reserva</a:t>
            </a:r>
            <a:r>
              <a:rPr lang="es-ES" sz="1900" dirty="0">
                <a:ea typeface="+mn-lt"/>
                <a:cs typeface="+mn-lt"/>
              </a:rPr>
              <a:t>) para cuantificar reservas atendidas por cada empleado.</a:t>
            </a:r>
            <a:endParaRPr lang="es-ES" sz="1900"/>
          </a:p>
        </p:txBody>
      </p:sp>
    </p:spTree>
    <p:extLst>
      <p:ext uri="{BB962C8B-B14F-4D97-AF65-F5344CB8AC3E}">
        <p14:creationId xmlns:p14="http://schemas.microsoft.com/office/powerpoint/2010/main" val="2252375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A83CE-36BE-7433-E525-054A63E2F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Conclusión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7E9956-7D8E-0BE0-E96C-1CAE93C04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wrap="square" lIns="0" tIns="0" rIns="0" bIns="0" rtlCol="0" anchor="t">
            <a:normAutofit/>
          </a:bodyPr>
          <a:lstStyle/>
          <a:p>
            <a:r>
              <a:rPr lang="es-ES" dirty="0">
                <a:ea typeface="+mn-lt"/>
                <a:cs typeface="+mn-lt"/>
              </a:rPr>
              <a:t>Se diseñó e implementó con éxito una Base de Datos relacional completa y funcional capaz de gestionar múltiples establecimientos.</a:t>
            </a:r>
            <a:endParaRPr lang="es-ES" dirty="0">
              <a:solidFill>
                <a:srgbClr val="FFFFFF">
                  <a:alpha val="60000"/>
                </a:srgbClr>
              </a:solidFill>
              <a:ea typeface="+mn-lt"/>
              <a:cs typeface="+mn-lt"/>
            </a:endParaRPr>
          </a:p>
          <a:p>
            <a:r>
              <a:rPr lang="es-ES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La base de datos está lista para usarse y provee toda la </a:t>
            </a:r>
            <a:r>
              <a:rPr lang="es-ES" b="1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información </a:t>
            </a:r>
            <a:r>
              <a:rPr lang="es-ES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estratégica necesaria para la toma de decisiones. </a:t>
            </a:r>
          </a:p>
          <a:p>
            <a:r>
              <a:rPr lang="es-ES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El diseño es versátil y posee un amplio futuro para ser </a:t>
            </a:r>
            <a:r>
              <a:rPr lang="es-ES" b="1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escalado</a:t>
            </a:r>
            <a:r>
              <a:rPr lang="es-ES" dirty="0">
                <a:solidFill>
                  <a:srgbClr val="FFFFFF">
                    <a:alpha val="60000"/>
                  </a:srgbClr>
                </a:solidFill>
                <a:ea typeface="+mn-lt"/>
                <a:cs typeface="+mn-lt"/>
              </a:rPr>
              <a:t>, facilitando la incorporación de nuevas entidades, restricciones y lógica de negocio.</a:t>
            </a:r>
            <a:endParaRPr lang="es-ES" dirty="0">
              <a:solidFill>
                <a:srgbClr val="FFFFFF">
                  <a:alpha val="60000"/>
                </a:srgbClr>
              </a:solidFill>
            </a:endParaRPr>
          </a:p>
          <a:p>
            <a:endParaRPr lang="es-ES" dirty="0">
              <a:solidFill>
                <a:srgbClr val="FFFFFF">
                  <a:alpha val="6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2690240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TM03457485[[fn=Malla]]</Template>
  <TotalTime>46</TotalTime>
  <Words>0</Words>
  <Application>Microsoft Office PowerPoint</Application>
  <PresentationFormat>Panorámica</PresentationFormat>
  <Paragraphs>0</Paragraphs>
  <Slides>5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6" baseType="lpstr">
      <vt:lpstr>3DFloatVTI</vt:lpstr>
      <vt:lpstr>Proyecto: Diseño e Implementación de Base de Datos Hotelera</vt:lpstr>
      <vt:lpstr>Integridad y Relaciones</vt:lpstr>
      <vt:lpstr>Automatización de Reglas y Control de Integridad</vt:lpstr>
      <vt:lpstr>Consultas Estratégicas y Lógica Temporal</vt:lpstr>
      <vt:lpstr>Conclusión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Franco Crovetto</dc:creator>
  <cp:lastModifiedBy>Franco Crovetto</cp:lastModifiedBy>
  <cp:revision>132</cp:revision>
  <dcterms:created xsi:type="dcterms:W3CDTF">2025-11-12T00:14:00Z</dcterms:created>
  <dcterms:modified xsi:type="dcterms:W3CDTF">2025-11-16T19:26:30Z</dcterms:modified>
</cp:coreProperties>
</file>