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63" r:id="rId3"/>
    <p:sldId id="261" r:id="rId4"/>
    <p:sldId id="262" r:id="rId5"/>
    <p:sldId id="257" r:id="rId6"/>
    <p:sldId id="258" r:id="rId7"/>
    <p:sldId id="259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8" autoAdjust="0"/>
    <p:restoredTop sz="94660"/>
  </p:normalViewPr>
  <p:slideViewPr>
    <p:cSldViewPr snapToGrid="0">
      <p:cViewPr>
        <p:scale>
          <a:sx n="75" d="100"/>
          <a:sy n="75" d="100"/>
        </p:scale>
        <p:origin x="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160B0D-1883-4432-8247-3179336924F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8F9ED-2B10-48CC-8D83-4A40E77CE73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Entidades Principales: 10 Tablas (Cliente, Reserva, Habitación, Empleado, Servicio, etc.) .</a:t>
          </a:r>
          <a:endParaRPr lang="en-US" dirty="0"/>
        </a:p>
      </dgm:t>
    </dgm:pt>
    <dgm:pt modelId="{8E242ABF-E4F9-4F80-8B71-04C271401C7C}" type="parTrans" cxnId="{68AD0669-6045-4291-80BA-5BE0C6F20832}">
      <dgm:prSet/>
      <dgm:spPr/>
      <dgm:t>
        <a:bodyPr/>
        <a:lstStyle/>
        <a:p>
          <a:endParaRPr lang="en-US"/>
        </a:p>
      </dgm:t>
    </dgm:pt>
    <dgm:pt modelId="{543BF3A5-ED99-4DB6-ABA7-E0BC4C4DB66F}" type="sibTrans" cxnId="{68AD0669-6045-4291-80BA-5BE0C6F20832}">
      <dgm:prSet/>
      <dgm:spPr/>
      <dgm:t>
        <a:bodyPr/>
        <a:lstStyle/>
        <a:p>
          <a:endParaRPr lang="en-US"/>
        </a:p>
      </dgm:t>
    </dgm:pt>
    <dgm:pt modelId="{5295B17B-14DA-44E2-A5C9-C07D53A408A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Integridad Referencial: Uso de 12 FOREIGN </a:t>
          </a:r>
          <a:r>
            <a:rPr lang="es-ES" dirty="0" err="1"/>
            <a:t>KEYs</a:t>
          </a:r>
          <a:r>
            <a:rPr lang="es-ES" dirty="0"/>
            <a:t> para garantizar la consistencia de los datos.</a:t>
          </a:r>
          <a:endParaRPr lang="en-US" dirty="0"/>
        </a:p>
      </dgm:t>
    </dgm:pt>
    <dgm:pt modelId="{44ABA928-1B67-4B70-9EC4-507FCBF4BC96}" type="parTrans" cxnId="{69460F0D-42E7-420E-82AC-2BF732C86609}">
      <dgm:prSet/>
      <dgm:spPr/>
      <dgm:t>
        <a:bodyPr/>
        <a:lstStyle/>
        <a:p>
          <a:endParaRPr lang="en-US"/>
        </a:p>
      </dgm:t>
    </dgm:pt>
    <dgm:pt modelId="{4B345200-1FD0-446D-8E9C-3810B7F78ED9}" type="sibTrans" cxnId="{69460F0D-42E7-420E-82AC-2BF732C86609}">
      <dgm:prSet/>
      <dgm:spPr/>
      <dgm:t>
        <a:bodyPr/>
        <a:lstStyle/>
        <a:p>
          <a:endParaRPr lang="en-US"/>
        </a:p>
      </dgm:t>
    </dgm:pt>
    <dgm:pt modelId="{D3FA6FA4-AEC1-4F03-AF82-E1BCD736D9C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Resolución M:N: Se emplearon Tablas de Enlace (</a:t>
          </a:r>
          <a:r>
            <a:rPr lang="es-ES" dirty="0" err="1"/>
            <a:t>empleado_reserva</a:t>
          </a:r>
          <a:r>
            <a:rPr lang="es-ES" dirty="0"/>
            <a:t>, </a:t>
          </a:r>
          <a:r>
            <a:rPr lang="es-ES" dirty="0" err="1"/>
            <a:t>habitacion_servicio</a:t>
          </a:r>
          <a:r>
            <a:rPr lang="es-ES" dirty="0" err="1">
              <a:latin typeface="Avenir Next LT Pro"/>
            </a:rPr>
            <a:t>,reservas</a:t>
          </a:r>
          <a:r>
            <a:rPr lang="es-ES" dirty="0">
              <a:latin typeface="Avenir Next LT Pro"/>
            </a:rPr>
            <a:t>)</a:t>
          </a:r>
          <a:r>
            <a:rPr lang="es-ES" dirty="0"/>
            <a:t> para evitar redundancia. Ejemplo:</a:t>
          </a:r>
          <a:endParaRPr lang="en-US" dirty="0"/>
        </a:p>
      </dgm:t>
    </dgm:pt>
    <dgm:pt modelId="{05585328-4E2C-4D49-8E18-FFCF9AE722D5}" type="parTrans" cxnId="{E81ECD88-E653-45FF-AFB7-C72ACCCFA5BC}">
      <dgm:prSet/>
      <dgm:spPr/>
      <dgm:t>
        <a:bodyPr/>
        <a:lstStyle/>
        <a:p>
          <a:endParaRPr lang="en-US"/>
        </a:p>
      </dgm:t>
    </dgm:pt>
    <dgm:pt modelId="{F77A7DB1-1717-4A3B-ACFE-41FA26412AC0}" type="sibTrans" cxnId="{E81ECD88-E653-45FF-AFB7-C72ACCCFA5BC}">
      <dgm:prSet/>
      <dgm:spPr/>
      <dgm:t>
        <a:bodyPr/>
        <a:lstStyle/>
        <a:p>
          <a:endParaRPr lang="en-US"/>
        </a:p>
      </dgm:t>
    </dgm:pt>
    <dgm:pt modelId="{A83F82B5-BFF1-4845-BA32-55582604EB05}" type="pres">
      <dgm:prSet presAssocID="{EE160B0D-1883-4432-8247-3179336924F4}" presName="root" presStyleCnt="0">
        <dgm:presLayoutVars>
          <dgm:dir/>
          <dgm:resizeHandles val="exact"/>
        </dgm:presLayoutVars>
      </dgm:prSet>
      <dgm:spPr/>
    </dgm:pt>
    <dgm:pt modelId="{63E7600C-A8EB-4760-98B8-FA126A80ADA8}" type="pres">
      <dgm:prSet presAssocID="{5828F9ED-2B10-48CC-8D83-4A40E77CE73D}" presName="compNode" presStyleCnt="0"/>
      <dgm:spPr/>
    </dgm:pt>
    <dgm:pt modelId="{0D48DC24-2063-4D4A-B80C-39AB39A81521}" type="pres">
      <dgm:prSet presAssocID="{5828F9ED-2B10-48CC-8D83-4A40E77CE7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CD424F8-3584-4A06-AF99-2CC95EEDCF81}" type="pres">
      <dgm:prSet presAssocID="{5828F9ED-2B10-48CC-8D83-4A40E77CE73D}" presName="spaceRect" presStyleCnt="0"/>
      <dgm:spPr/>
    </dgm:pt>
    <dgm:pt modelId="{6F302B0F-F186-49BF-BF3E-057A39DDDF77}" type="pres">
      <dgm:prSet presAssocID="{5828F9ED-2B10-48CC-8D83-4A40E77CE73D}" presName="textRect" presStyleLbl="revTx" presStyleIdx="0" presStyleCnt="3">
        <dgm:presLayoutVars>
          <dgm:chMax val="1"/>
          <dgm:chPref val="1"/>
        </dgm:presLayoutVars>
      </dgm:prSet>
      <dgm:spPr/>
    </dgm:pt>
    <dgm:pt modelId="{EBD3AE93-7105-4BE4-9EAE-5B0F95E0B4EB}" type="pres">
      <dgm:prSet presAssocID="{543BF3A5-ED99-4DB6-ABA7-E0BC4C4DB66F}" presName="sibTrans" presStyleCnt="0"/>
      <dgm:spPr/>
    </dgm:pt>
    <dgm:pt modelId="{0BFA9130-1E4E-4535-BB5D-B5DABE4A2EA7}" type="pres">
      <dgm:prSet presAssocID="{5295B17B-14DA-44E2-A5C9-C07D53A408A6}" presName="compNode" presStyleCnt="0"/>
      <dgm:spPr/>
    </dgm:pt>
    <dgm:pt modelId="{874B29BC-4C61-4866-BD49-1C7C9C89EE8F}" type="pres">
      <dgm:prSet presAssocID="{5295B17B-14DA-44E2-A5C9-C07D53A408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F4A3DD4F-676A-4B7B-9C5C-6C772F403FA8}" type="pres">
      <dgm:prSet presAssocID="{5295B17B-14DA-44E2-A5C9-C07D53A408A6}" presName="spaceRect" presStyleCnt="0"/>
      <dgm:spPr/>
    </dgm:pt>
    <dgm:pt modelId="{48AAF423-A0F8-4D85-8AA5-25EE7F1DC39F}" type="pres">
      <dgm:prSet presAssocID="{5295B17B-14DA-44E2-A5C9-C07D53A408A6}" presName="textRect" presStyleLbl="revTx" presStyleIdx="1" presStyleCnt="3">
        <dgm:presLayoutVars>
          <dgm:chMax val="1"/>
          <dgm:chPref val="1"/>
        </dgm:presLayoutVars>
      </dgm:prSet>
      <dgm:spPr/>
    </dgm:pt>
    <dgm:pt modelId="{2492319E-3467-4B23-8A5F-BE192CCC0BDC}" type="pres">
      <dgm:prSet presAssocID="{4B345200-1FD0-446D-8E9C-3810B7F78ED9}" presName="sibTrans" presStyleCnt="0"/>
      <dgm:spPr/>
    </dgm:pt>
    <dgm:pt modelId="{1352C146-CE14-43CC-90EB-EEF9CBC34736}" type="pres">
      <dgm:prSet presAssocID="{D3FA6FA4-AEC1-4F03-AF82-E1BCD736D9CA}" presName="compNode" presStyleCnt="0"/>
      <dgm:spPr/>
    </dgm:pt>
    <dgm:pt modelId="{F53B44D4-264F-4B6F-A1C8-2080016A00A5}" type="pres">
      <dgm:prSet presAssocID="{D3FA6FA4-AEC1-4F03-AF82-E1BCD736D9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447636FB-A6A5-4563-8102-9D5807E20C87}" type="pres">
      <dgm:prSet presAssocID="{D3FA6FA4-AEC1-4F03-AF82-E1BCD736D9CA}" presName="spaceRect" presStyleCnt="0"/>
      <dgm:spPr/>
    </dgm:pt>
    <dgm:pt modelId="{0C80365B-62D5-4933-A1E4-056B665F2084}" type="pres">
      <dgm:prSet presAssocID="{D3FA6FA4-AEC1-4F03-AF82-E1BCD736D9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9460F0D-42E7-420E-82AC-2BF732C86609}" srcId="{EE160B0D-1883-4432-8247-3179336924F4}" destId="{5295B17B-14DA-44E2-A5C9-C07D53A408A6}" srcOrd="1" destOrd="0" parTransId="{44ABA928-1B67-4B70-9EC4-507FCBF4BC96}" sibTransId="{4B345200-1FD0-446D-8E9C-3810B7F78ED9}"/>
    <dgm:cxn modelId="{4598A91E-E488-4F18-BD87-E9E50801DCBC}" type="presOf" srcId="{D3FA6FA4-AEC1-4F03-AF82-E1BCD736D9CA}" destId="{0C80365B-62D5-4933-A1E4-056B665F2084}" srcOrd="0" destOrd="0" presId="urn:microsoft.com/office/officeart/2018/2/layout/IconLabelList"/>
    <dgm:cxn modelId="{68AD0669-6045-4291-80BA-5BE0C6F20832}" srcId="{EE160B0D-1883-4432-8247-3179336924F4}" destId="{5828F9ED-2B10-48CC-8D83-4A40E77CE73D}" srcOrd="0" destOrd="0" parTransId="{8E242ABF-E4F9-4F80-8B71-04C271401C7C}" sibTransId="{543BF3A5-ED99-4DB6-ABA7-E0BC4C4DB66F}"/>
    <dgm:cxn modelId="{DB2B9A80-00AA-4558-BCB7-970B0B85A2BD}" type="presOf" srcId="{EE160B0D-1883-4432-8247-3179336924F4}" destId="{A83F82B5-BFF1-4845-BA32-55582604EB05}" srcOrd="0" destOrd="0" presId="urn:microsoft.com/office/officeart/2018/2/layout/IconLabelList"/>
    <dgm:cxn modelId="{E81ECD88-E653-45FF-AFB7-C72ACCCFA5BC}" srcId="{EE160B0D-1883-4432-8247-3179336924F4}" destId="{D3FA6FA4-AEC1-4F03-AF82-E1BCD736D9CA}" srcOrd="2" destOrd="0" parTransId="{05585328-4E2C-4D49-8E18-FFCF9AE722D5}" sibTransId="{F77A7DB1-1717-4A3B-ACFE-41FA26412AC0}"/>
    <dgm:cxn modelId="{26568AB7-AA6F-4278-8814-FC2F4A3A622C}" type="presOf" srcId="{5828F9ED-2B10-48CC-8D83-4A40E77CE73D}" destId="{6F302B0F-F186-49BF-BF3E-057A39DDDF77}" srcOrd="0" destOrd="0" presId="urn:microsoft.com/office/officeart/2018/2/layout/IconLabelList"/>
    <dgm:cxn modelId="{92E2D0FB-EDF7-4295-8127-2F8F38D4A573}" type="presOf" srcId="{5295B17B-14DA-44E2-A5C9-C07D53A408A6}" destId="{48AAF423-A0F8-4D85-8AA5-25EE7F1DC39F}" srcOrd="0" destOrd="0" presId="urn:microsoft.com/office/officeart/2018/2/layout/IconLabelList"/>
    <dgm:cxn modelId="{A1622E36-7815-4993-925D-42F959E2D711}" type="presParOf" srcId="{A83F82B5-BFF1-4845-BA32-55582604EB05}" destId="{63E7600C-A8EB-4760-98B8-FA126A80ADA8}" srcOrd="0" destOrd="0" presId="urn:microsoft.com/office/officeart/2018/2/layout/IconLabelList"/>
    <dgm:cxn modelId="{A44273BF-A84D-4DD3-8A20-0FEA8CCB9DDF}" type="presParOf" srcId="{63E7600C-A8EB-4760-98B8-FA126A80ADA8}" destId="{0D48DC24-2063-4D4A-B80C-39AB39A81521}" srcOrd="0" destOrd="0" presId="urn:microsoft.com/office/officeart/2018/2/layout/IconLabelList"/>
    <dgm:cxn modelId="{B5C45011-A50D-40DA-A020-A35A7728A03B}" type="presParOf" srcId="{63E7600C-A8EB-4760-98B8-FA126A80ADA8}" destId="{3CD424F8-3584-4A06-AF99-2CC95EEDCF81}" srcOrd="1" destOrd="0" presId="urn:microsoft.com/office/officeart/2018/2/layout/IconLabelList"/>
    <dgm:cxn modelId="{7F2CADAC-B2B2-4499-B6B9-9BFA9AC177E8}" type="presParOf" srcId="{63E7600C-A8EB-4760-98B8-FA126A80ADA8}" destId="{6F302B0F-F186-49BF-BF3E-057A39DDDF77}" srcOrd="2" destOrd="0" presId="urn:microsoft.com/office/officeart/2018/2/layout/IconLabelList"/>
    <dgm:cxn modelId="{DB382533-4B1B-4762-9F2C-2339CC94C547}" type="presParOf" srcId="{A83F82B5-BFF1-4845-BA32-55582604EB05}" destId="{EBD3AE93-7105-4BE4-9EAE-5B0F95E0B4EB}" srcOrd="1" destOrd="0" presId="urn:microsoft.com/office/officeart/2018/2/layout/IconLabelList"/>
    <dgm:cxn modelId="{A0E2E553-A201-43E8-9A2D-072119AC5EE0}" type="presParOf" srcId="{A83F82B5-BFF1-4845-BA32-55582604EB05}" destId="{0BFA9130-1E4E-4535-BB5D-B5DABE4A2EA7}" srcOrd="2" destOrd="0" presId="urn:microsoft.com/office/officeart/2018/2/layout/IconLabelList"/>
    <dgm:cxn modelId="{B168132B-E74D-46E9-9AAB-34460CB26BBD}" type="presParOf" srcId="{0BFA9130-1E4E-4535-BB5D-B5DABE4A2EA7}" destId="{874B29BC-4C61-4866-BD49-1C7C9C89EE8F}" srcOrd="0" destOrd="0" presId="urn:microsoft.com/office/officeart/2018/2/layout/IconLabelList"/>
    <dgm:cxn modelId="{14CAF983-53BA-4C7B-BCA1-B9DA32D8A2E1}" type="presParOf" srcId="{0BFA9130-1E4E-4535-BB5D-B5DABE4A2EA7}" destId="{F4A3DD4F-676A-4B7B-9C5C-6C772F403FA8}" srcOrd="1" destOrd="0" presId="urn:microsoft.com/office/officeart/2018/2/layout/IconLabelList"/>
    <dgm:cxn modelId="{A02328E2-CCF6-457D-A986-FA6769120D54}" type="presParOf" srcId="{0BFA9130-1E4E-4535-BB5D-B5DABE4A2EA7}" destId="{48AAF423-A0F8-4D85-8AA5-25EE7F1DC39F}" srcOrd="2" destOrd="0" presId="urn:microsoft.com/office/officeart/2018/2/layout/IconLabelList"/>
    <dgm:cxn modelId="{834D5806-DEF6-4BE4-9C6F-EDCD8BD44F91}" type="presParOf" srcId="{A83F82B5-BFF1-4845-BA32-55582604EB05}" destId="{2492319E-3467-4B23-8A5F-BE192CCC0BDC}" srcOrd="3" destOrd="0" presId="urn:microsoft.com/office/officeart/2018/2/layout/IconLabelList"/>
    <dgm:cxn modelId="{A6A8E42E-C122-451B-9AA6-16CE66E22344}" type="presParOf" srcId="{A83F82B5-BFF1-4845-BA32-55582604EB05}" destId="{1352C146-CE14-43CC-90EB-EEF9CBC34736}" srcOrd="4" destOrd="0" presId="urn:microsoft.com/office/officeart/2018/2/layout/IconLabelList"/>
    <dgm:cxn modelId="{68A13602-36F4-4626-A86F-1D4BACDE67B1}" type="presParOf" srcId="{1352C146-CE14-43CC-90EB-EEF9CBC34736}" destId="{F53B44D4-264F-4B6F-A1C8-2080016A00A5}" srcOrd="0" destOrd="0" presId="urn:microsoft.com/office/officeart/2018/2/layout/IconLabelList"/>
    <dgm:cxn modelId="{F2F314E6-5663-4F68-91F7-B83F8585ECB2}" type="presParOf" srcId="{1352C146-CE14-43CC-90EB-EEF9CBC34736}" destId="{447636FB-A6A5-4563-8102-9D5807E20C87}" srcOrd="1" destOrd="0" presId="urn:microsoft.com/office/officeart/2018/2/layout/IconLabelList"/>
    <dgm:cxn modelId="{1B3EF7FB-3FC2-4416-8885-C8B7C97E0DFA}" type="presParOf" srcId="{1352C146-CE14-43CC-90EB-EEF9CBC34736}" destId="{0C80365B-62D5-4933-A1E4-056B665F208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8DC24-2063-4D4A-B80C-39AB39A81521}">
      <dsp:nvSpPr>
        <dsp:cNvPr id="0" name=""/>
        <dsp:cNvSpPr/>
      </dsp:nvSpPr>
      <dsp:spPr>
        <a:xfrm>
          <a:off x="992889" y="705477"/>
          <a:ext cx="1463222" cy="14632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02B0F-F186-49BF-BF3E-057A39DDDF77}">
      <dsp:nvSpPr>
        <dsp:cNvPr id="0" name=""/>
        <dsp:cNvSpPr/>
      </dsp:nvSpPr>
      <dsp:spPr>
        <a:xfrm>
          <a:off x="98698" y="2554147"/>
          <a:ext cx="32516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Entidades Principales: 10 Tablas (Cliente, Reserva, Habitación, Empleado, Servicio, etc.) .</a:t>
          </a:r>
          <a:endParaRPr lang="en-US" sz="1100" kern="1200" dirty="0"/>
        </a:p>
      </dsp:txBody>
      <dsp:txXfrm>
        <a:off x="98698" y="2554147"/>
        <a:ext cx="3251605" cy="720000"/>
      </dsp:txXfrm>
    </dsp:sp>
    <dsp:sp modelId="{874B29BC-4C61-4866-BD49-1C7C9C89EE8F}">
      <dsp:nvSpPr>
        <dsp:cNvPr id="0" name=""/>
        <dsp:cNvSpPr/>
      </dsp:nvSpPr>
      <dsp:spPr>
        <a:xfrm>
          <a:off x="4813525" y="705477"/>
          <a:ext cx="1463222" cy="14632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AF423-A0F8-4D85-8AA5-25EE7F1DC39F}">
      <dsp:nvSpPr>
        <dsp:cNvPr id="0" name=""/>
        <dsp:cNvSpPr/>
      </dsp:nvSpPr>
      <dsp:spPr>
        <a:xfrm>
          <a:off x="3919334" y="2554147"/>
          <a:ext cx="32516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Integridad Referencial: Uso de 12 FOREIGN </a:t>
          </a:r>
          <a:r>
            <a:rPr lang="es-ES" sz="1100" kern="1200" dirty="0" err="1"/>
            <a:t>KEYs</a:t>
          </a:r>
          <a:r>
            <a:rPr lang="es-ES" sz="1100" kern="1200" dirty="0"/>
            <a:t> para garantizar la consistencia de los datos.</a:t>
          </a:r>
          <a:endParaRPr lang="en-US" sz="1100" kern="1200" dirty="0"/>
        </a:p>
      </dsp:txBody>
      <dsp:txXfrm>
        <a:off x="3919334" y="2554147"/>
        <a:ext cx="3251605" cy="720000"/>
      </dsp:txXfrm>
    </dsp:sp>
    <dsp:sp modelId="{F53B44D4-264F-4B6F-A1C8-2080016A00A5}">
      <dsp:nvSpPr>
        <dsp:cNvPr id="0" name=""/>
        <dsp:cNvSpPr/>
      </dsp:nvSpPr>
      <dsp:spPr>
        <a:xfrm>
          <a:off x="8634162" y="705477"/>
          <a:ext cx="1463222" cy="14632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80365B-62D5-4933-A1E4-056B665F2084}">
      <dsp:nvSpPr>
        <dsp:cNvPr id="0" name=""/>
        <dsp:cNvSpPr/>
      </dsp:nvSpPr>
      <dsp:spPr>
        <a:xfrm>
          <a:off x="7739970" y="2554147"/>
          <a:ext cx="32516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/>
            <a:t>Resolución M:N: Se emplearon Tablas de Enlace (</a:t>
          </a:r>
          <a:r>
            <a:rPr lang="es-ES" sz="1100" kern="1200" dirty="0" err="1"/>
            <a:t>empleado_reserva</a:t>
          </a:r>
          <a:r>
            <a:rPr lang="es-ES" sz="1100" kern="1200" dirty="0"/>
            <a:t>, </a:t>
          </a:r>
          <a:r>
            <a:rPr lang="es-ES" sz="1100" kern="1200" dirty="0" err="1"/>
            <a:t>habitacion_servicio</a:t>
          </a:r>
          <a:r>
            <a:rPr lang="es-ES" sz="1100" kern="1200" dirty="0" err="1">
              <a:latin typeface="Avenir Next LT Pro"/>
            </a:rPr>
            <a:t>,reservas</a:t>
          </a:r>
          <a:r>
            <a:rPr lang="es-ES" sz="1100" kern="1200" dirty="0">
              <a:latin typeface="Avenir Next LT Pro"/>
            </a:rPr>
            <a:t>)</a:t>
          </a:r>
          <a:r>
            <a:rPr lang="es-ES" sz="1100" kern="1200" dirty="0"/>
            <a:t> para evitar redundancia. Ejemplo:</a:t>
          </a:r>
          <a:endParaRPr lang="en-US" sz="1100" kern="1200" dirty="0"/>
        </a:p>
      </dsp:txBody>
      <dsp:txXfrm>
        <a:off x="7739970" y="2554147"/>
        <a:ext cx="325160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Monday, November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522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8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4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4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347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1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5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9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5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Monday, November 17,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74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DCBC2F-6AF6-4DA2-AAE7-28B289288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2" y="1435100"/>
            <a:ext cx="5437188" cy="3496214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Proyecto: </a:t>
            </a:r>
            <a:r>
              <a:rPr lang="es-AR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Diseño</a:t>
            </a:r>
            <a:r>
              <a:rPr lang="en-US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e </a:t>
            </a:r>
            <a:r>
              <a:rPr lang="es-AR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Implementación</a:t>
            </a:r>
            <a:r>
              <a:rPr lang="en-US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de Base de </a:t>
            </a:r>
            <a:r>
              <a:rPr lang="es-AR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Datos</a:t>
            </a:r>
            <a:r>
              <a:rPr lang="en-US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s-AR" sz="5000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Hotelera</a:t>
            </a:r>
            <a:endParaRPr lang="es-AR" sz="5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6814F1-D1AC-450F-8036-E29A2B9CD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0575" y="1522184"/>
            <a:ext cx="3581181" cy="4570641"/>
          </a:xfr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Objetivo General: 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Gestionar clientes, reservas, habitaciones, servicios y personal de varios hoteles.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Tecnologías:</a:t>
            </a:r>
            <a:endParaRPr lang="es-AR" sz="1600" dirty="0">
              <a:solidFill>
                <a:schemeClr val="tx1">
                  <a:alpha val="60000"/>
                </a:schemeClr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Modelo Relacional implementado en </a:t>
            </a:r>
            <a:r>
              <a:rPr lang="es-AR" sz="1600" b="1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MySQL</a:t>
            </a:r>
            <a:r>
              <a:rPr lang="es-AR" sz="1600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Git</a:t>
            </a:r>
            <a:endParaRPr lang="es-AR" sz="1600" u="sng" dirty="0">
              <a:solidFill>
                <a:schemeClr val="tx1">
                  <a:alpha val="60000"/>
                </a:schemeClr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sz="1600" u="sng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Draw.io</a:t>
            </a:r>
            <a:endParaRPr lang="es-AR" sz="1600" dirty="0">
              <a:solidFill>
                <a:schemeClr val="tx1">
                  <a:alpha val="60000"/>
                </a:schemeClr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Integrantes:</a:t>
            </a:r>
            <a:r>
              <a:rPr lang="es-AR" sz="1600" dirty="0">
                <a:solidFill>
                  <a:schemeClr val="tx1">
                    <a:alpha val="60000"/>
                  </a:schemeClr>
                </a:soli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Pablo González, Gian Franco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262674-A504-4C90-BBBB-94D20F92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4653" y="4120355"/>
            <a:ext cx="1237347" cy="1972470"/>
          </a:xfrm>
          <a:custGeom>
            <a:avLst/>
            <a:gdLst>
              <a:gd name="connsiteX0" fmla="*/ 986235 w 1237347"/>
              <a:gd name="connsiteY0" fmla="*/ 0 h 1972470"/>
              <a:gd name="connsiteX1" fmla="*/ 1184996 w 1237347"/>
              <a:gd name="connsiteY1" fmla="*/ 20037 h 1972470"/>
              <a:gd name="connsiteX2" fmla="*/ 1237347 w 1237347"/>
              <a:gd name="connsiteY2" fmla="*/ 33498 h 1972470"/>
              <a:gd name="connsiteX3" fmla="*/ 1237347 w 1237347"/>
              <a:gd name="connsiteY3" fmla="*/ 1938973 h 1972470"/>
              <a:gd name="connsiteX4" fmla="*/ 1184996 w 1237347"/>
              <a:gd name="connsiteY4" fmla="*/ 1952433 h 1972470"/>
              <a:gd name="connsiteX5" fmla="*/ 986235 w 1237347"/>
              <a:gd name="connsiteY5" fmla="*/ 1972470 h 1972470"/>
              <a:gd name="connsiteX6" fmla="*/ 0 w 1237347"/>
              <a:gd name="connsiteY6" fmla="*/ 986235 h 1972470"/>
              <a:gd name="connsiteX7" fmla="*/ 986235 w 1237347"/>
              <a:gd name="connsiteY7" fmla="*/ 0 h 197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7347" h="1972470">
                <a:moveTo>
                  <a:pt x="986235" y="0"/>
                </a:moveTo>
                <a:cubicBezTo>
                  <a:pt x="1054320" y="0"/>
                  <a:pt x="1120794" y="6899"/>
                  <a:pt x="1184996" y="20037"/>
                </a:cubicBezTo>
                <a:lnTo>
                  <a:pt x="1237347" y="33498"/>
                </a:lnTo>
                <a:lnTo>
                  <a:pt x="1237347" y="1938973"/>
                </a:lnTo>
                <a:lnTo>
                  <a:pt x="1184996" y="1952433"/>
                </a:lnTo>
                <a:cubicBezTo>
                  <a:pt x="1120794" y="1965571"/>
                  <a:pt x="1054320" y="1972470"/>
                  <a:pt x="986235" y="1972470"/>
                </a:cubicBezTo>
                <a:cubicBezTo>
                  <a:pt x="441552" y="1972470"/>
                  <a:pt x="0" y="1530918"/>
                  <a:pt x="0" y="986235"/>
                </a:cubicBezTo>
                <a:cubicBezTo>
                  <a:pt x="0" y="441552"/>
                  <a:pt x="441552" y="0"/>
                  <a:pt x="986235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508000" dist="76200" dir="15480000">
              <a:schemeClr val="accent1">
                <a:lumMod val="60000"/>
                <a:lumOff val="40000"/>
                <a:alpha val="6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6191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09A440A-24DB-4CCA-B28C-BC13692F8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85699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&#10;">
            <a:extLst>
              <a:ext uri="{FF2B5EF4-FFF2-40B4-BE49-F238E27FC236}">
                <a16:creationId xmlns:a16="http://schemas.microsoft.com/office/drawing/2014/main" id="{F4BAC3D0-75A2-414D-947F-2FFAECF51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1" y="1564028"/>
            <a:ext cx="12206804" cy="3769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2BC5586-6889-4EC2-91D0-C4421EF6A43D}"/>
              </a:ext>
            </a:extLst>
          </p:cNvPr>
          <p:cNvSpPr txBox="1"/>
          <p:nvPr/>
        </p:nvSpPr>
        <p:spPr>
          <a:xfrm>
            <a:off x="550861" y="1194698"/>
            <a:ext cx="1109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Diagrama Entidad-Relación</a:t>
            </a:r>
          </a:p>
        </p:txBody>
      </p:sp>
    </p:spTree>
    <p:extLst>
      <p:ext uri="{BB962C8B-B14F-4D97-AF65-F5344CB8AC3E}">
        <p14:creationId xmlns:p14="http://schemas.microsoft.com/office/powerpoint/2010/main" val="37606811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AB43B64-7A39-44E6-8243-8A3ACF1C8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"/>
            <a:ext cx="12218295" cy="59674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7307A0B-BE28-4909-AAC6-6117A9F08535}"/>
              </a:ext>
            </a:extLst>
          </p:cNvPr>
          <p:cNvSpPr txBox="1"/>
          <p:nvPr/>
        </p:nvSpPr>
        <p:spPr>
          <a:xfrm>
            <a:off x="911740" y="165655"/>
            <a:ext cx="1039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Diagrama Relacional</a:t>
            </a:r>
          </a:p>
        </p:txBody>
      </p:sp>
    </p:spTree>
    <p:extLst>
      <p:ext uri="{BB962C8B-B14F-4D97-AF65-F5344CB8AC3E}">
        <p14:creationId xmlns:p14="http://schemas.microsoft.com/office/powerpoint/2010/main" val="27057465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498A3-3BB2-BD49-FE06-8C0C56C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Integridad y Relaciones</a:t>
            </a: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A64E0324-EB6F-CF99-D969-F83685BC0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922092"/>
              </p:ext>
            </p:extLst>
          </p:nvPr>
        </p:nvGraphicFramePr>
        <p:xfrm>
          <a:off x="550863" y="1213488"/>
          <a:ext cx="11090274" cy="397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A26607D-53DC-CAB7-31F7-531B5DF77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6374" y="4314882"/>
            <a:ext cx="86772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838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5A80E2-E657-3A04-106E-EFE40765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1435100"/>
            <a:ext cx="5437188" cy="3496214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5600" dirty="0">
                <a:ea typeface="+mj-lt"/>
                <a:cs typeface="+mj-lt"/>
              </a:rPr>
              <a:t>Automatización de Reglas y Control de Integridad</a:t>
            </a:r>
            <a:endParaRPr lang="es-ES" sz="5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FBA906-5B7C-3BD3-4DDE-C98E1685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575" y="1522184"/>
            <a:ext cx="3581181" cy="4570641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600" b="1" dirty="0">
                <a:ea typeface="+mn-lt"/>
                <a:cs typeface="+mn-lt"/>
              </a:rPr>
              <a:t>Función de </a:t>
            </a:r>
            <a:r>
              <a:rPr lang="es-ES" sz="1600" b="1" dirty="0" err="1">
                <a:ea typeface="+mn-lt"/>
                <a:cs typeface="+mn-lt"/>
              </a:rPr>
              <a:t>Triggers</a:t>
            </a:r>
            <a:r>
              <a:rPr lang="es-ES" sz="1600" b="1" dirty="0">
                <a:ea typeface="+mn-lt"/>
                <a:cs typeface="+mn-lt"/>
              </a:rPr>
              <a:t>: </a:t>
            </a:r>
            <a:r>
              <a:rPr lang="es-ES" sz="1600" dirty="0">
                <a:ea typeface="+mn-lt"/>
                <a:cs typeface="+mn-lt"/>
              </a:rPr>
              <a:t>Bloques de código que se ejecutan automáticamente en el servidor ante eventos DML.</a:t>
            </a:r>
          </a:p>
          <a:p>
            <a:pPr>
              <a:lnSpc>
                <a:spcPct val="100000"/>
              </a:lnSpc>
            </a:pPr>
            <a:r>
              <a:rPr lang="es-ES" sz="1600" b="1" dirty="0" err="1">
                <a:ea typeface="+mn-lt"/>
                <a:cs typeface="+mn-lt"/>
              </a:rPr>
              <a:t>Trigger</a:t>
            </a:r>
            <a:r>
              <a:rPr lang="es-ES" sz="1600" b="1" dirty="0">
                <a:ea typeface="+mn-lt"/>
                <a:cs typeface="+mn-lt"/>
              </a:rPr>
              <a:t> #1 (Salario)</a:t>
            </a:r>
            <a:r>
              <a:rPr lang="es-ES" sz="1600" b="1" dirty="0">
                <a:latin typeface="Avenir Next LT Pro"/>
              </a:rPr>
              <a:t> </a:t>
            </a:r>
            <a:r>
              <a:rPr lang="es-ES" sz="1600" dirty="0" err="1">
                <a:latin typeface="Consolas"/>
              </a:rPr>
              <a:t>empleado_aumento</a:t>
            </a:r>
            <a:r>
              <a:rPr lang="es-ES" sz="1600" dirty="0">
                <a:ea typeface="+mn-lt"/>
                <a:cs typeface="+mn-lt"/>
              </a:rPr>
              <a:t>: Aplica un aumento del 10% si el salario es bajo.</a:t>
            </a:r>
            <a:endParaRPr lang="es-ES" sz="1600" dirty="0">
              <a:solidFill>
                <a:srgbClr val="FFFFFF">
                  <a:alpha val="60000"/>
                </a:srgbClr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s-ES" sz="1600" b="1" dirty="0" err="1">
                <a:ea typeface="+mn-lt"/>
                <a:cs typeface="+mn-lt"/>
              </a:rPr>
              <a:t>Trigger</a:t>
            </a:r>
            <a:r>
              <a:rPr lang="es-ES" sz="1600" b="1" dirty="0">
                <a:ea typeface="+mn-lt"/>
                <a:cs typeface="+mn-lt"/>
              </a:rPr>
              <a:t> #2 (Fechas)</a:t>
            </a:r>
            <a:r>
              <a:rPr lang="es-ES" sz="1600" b="1" dirty="0">
                <a:latin typeface="Avenir Next LT Pro"/>
              </a:rPr>
              <a:t> </a:t>
            </a:r>
            <a:r>
              <a:rPr lang="es-ES" sz="1600" b="1" dirty="0" err="1">
                <a:latin typeface="Consolas"/>
              </a:rPr>
              <a:t>TR_Reserva_Concurrenci</a:t>
            </a:r>
            <a:r>
              <a:rPr lang="es-ES" sz="1600" b="1" dirty="0">
                <a:latin typeface="Consolas"/>
              </a:rPr>
              <a:t>:</a:t>
            </a:r>
            <a:r>
              <a:rPr lang="es-ES" sz="1600" dirty="0">
                <a:ea typeface="+mn-lt"/>
                <a:cs typeface="+mn-lt"/>
              </a:rPr>
              <a:t> Previene la superposición de reservas para la misma habitación.</a:t>
            </a:r>
          </a:p>
          <a:p>
            <a:pPr marL="0" indent="0">
              <a:lnSpc>
                <a:spcPct val="100000"/>
              </a:lnSpc>
              <a:buNone/>
            </a:pPr>
            <a:endParaRPr lang="es-ES" sz="16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3262674-A504-4C90-BBBB-94D20F92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54653" y="4120355"/>
            <a:ext cx="1237347" cy="1972470"/>
          </a:xfrm>
          <a:custGeom>
            <a:avLst/>
            <a:gdLst>
              <a:gd name="connsiteX0" fmla="*/ 986235 w 1237347"/>
              <a:gd name="connsiteY0" fmla="*/ 0 h 1972470"/>
              <a:gd name="connsiteX1" fmla="*/ 1184996 w 1237347"/>
              <a:gd name="connsiteY1" fmla="*/ 20037 h 1972470"/>
              <a:gd name="connsiteX2" fmla="*/ 1237347 w 1237347"/>
              <a:gd name="connsiteY2" fmla="*/ 33498 h 1972470"/>
              <a:gd name="connsiteX3" fmla="*/ 1237347 w 1237347"/>
              <a:gd name="connsiteY3" fmla="*/ 1938973 h 1972470"/>
              <a:gd name="connsiteX4" fmla="*/ 1184996 w 1237347"/>
              <a:gd name="connsiteY4" fmla="*/ 1952433 h 1972470"/>
              <a:gd name="connsiteX5" fmla="*/ 986235 w 1237347"/>
              <a:gd name="connsiteY5" fmla="*/ 1972470 h 1972470"/>
              <a:gd name="connsiteX6" fmla="*/ 0 w 1237347"/>
              <a:gd name="connsiteY6" fmla="*/ 986235 h 1972470"/>
              <a:gd name="connsiteX7" fmla="*/ 986235 w 1237347"/>
              <a:gd name="connsiteY7" fmla="*/ 0 h 197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37347" h="1972470">
                <a:moveTo>
                  <a:pt x="986235" y="0"/>
                </a:moveTo>
                <a:cubicBezTo>
                  <a:pt x="1054320" y="0"/>
                  <a:pt x="1120794" y="6899"/>
                  <a:pt x="1184996" y="20037"/>
                </a:cubicBezTo>
                <a:lnTo>
                  <a:pt x="1237347" y="33498"/>
                </a:lnTo>
                <a:lnTo>
                  <a:pt x="1237347" y="1938973"/>
                </a:lnTo>
                <a:lnTo>
                  <a:pt x="1184996" y="1952433"/>
                </a:lnTo>
                <a:cubicBezTo>
                  <a:pt x="1120794" y="1965571"/>
                  <a:pt x="1054320" y="1972470"/>
                  <a:pt x="986235" y="1972470"/>
                </a:cubicBezTo>
                <a:cubicBezTo>
                  <a:pt x="441552" y="1972470"/>
                  <a:pt x="0" y="1530918"/>
                  <a:pt x="0" y="986235"/>
                </a:cubicBezTo>
                <a:cubicBezTo>
                  <a:pt x="0" y="441552"/>
                  <a:pt x="441552" y="0"/>
                  <a:pt x="986235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508000" dist="76200" dir="15480000">
              <a:schemeClr val="accent1">
                <a:lumMod val="60000"/>
                <a:lumOff val="40000"/>
                <a:alpha val="6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66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672ABA-6E87-BE9B-D27B-50E6AB93B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80363"/>
            <a:ext cx="5437188" cy="199785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>
                <a:ea typeface="+mj-lt"/>
                <a:cs typeface="+mj-lt"/>
              </a:rPr>
              <a:t>Consultas Estratégicas y Lógica Temporal</a:t>
            </a:r>
            <a:endParaRPr lang="es-ES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6959C3E7-D59B-44C4-9BBD-3BC2A41A0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151" y="3295640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54876B-FB01-4E58-9C9F-3D510011B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22329" y="4018501"/>
            <a:ext cx="1468514" cy="1521012"/>
            <a:chOff x="8926879" y="88028"/>
            <a:chExt cx="1468514" cy="1521012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EE14B10-2C91-4CF8-ABB6-7E21AA98C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9153221" y="88028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A93B35E-1AB2-4CCC-91AC-122E57A18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8926879" y="221946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9951197-11BD-489A-BF2C-E542541AB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9455555" y="532490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6CFF9-7552-F036-C736-566C3B126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575" y="1520825"/>
            <a:ext cx="4500562" cy="4572000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900" b="1" dirty="0">
                <a:ea typeface="+mn-lt"/>
                <a:cs typeface="+mn-lt"/>
              </a:rPr>
              <a:t>Cálculos Financieros: </a:t>
            </a:r>
            <a:r>
              <a:rPr lang="es-ES" sz="1900" dirty="0">
                <a:ea typeface="+mn-lt"/>
                <a:cs typeface="+mn-lt"/>
              </a:rPr>
              <a:t>Hacemos uso de la Combinación de </a:t>
            </a:r>
            <a:r>
              <a:rPr lang="es-ES" sz="1900" dirty="0">
                <a:latin typeface="Consolas"/>
              </a:rPr>
              <a:t>DATEDIFF()</a:t>
            </a:r>
            <a:r>
              <a:rPr lang="es-ES" sz="1900" dirty="0">
                <a:ea typeface="+mn-lt"/>
                <a:cs typeface="+mn-lt"/>
              </a:rPr>
              <a:t>  y </a:t>
            </a:r>
            <a:r>
              <a:rPr lang="es-ES" sz="1900" dirty="0">
                <a:latin typeface="Consolas"/>
              </a:rPr>
              <a:t>SUM()</a:t>
            </a:r>
            <a:r>
              <a:rPr lang="es-ES" sz="1900" dirty="0">
                <a:ea typeface="+mn-lt"/>
                <a:cs typeface="+mn-lt"/>
              </a:rPr>
              <a:t> con </a:t>
            </a:r>
            <a:r>
              <a:rPr lang="es-ES" sz="1900" dirty="0">
                <a:latin typeface="Consolas"/>
              </a:rPr>
              <a:t>IFNULL()</a:t>
            </a:r>
            <a:r>
              <a:rPr lang="es-ES" sz="1900" dirty="0">
                <a:ea typeface="+mn-lt"/>
                <a:cs typeface="+mn-lt"/>
              </a:rPr>
              <a:t> para obtener el costo total exacto.</a:t>
            </a:r>
          </a:p>
          <a:p>
            <a:pPr>
              <a:lnSpc>
                <a:spcPct val="100000"/>
              </a:lnSpc>
            </a:pPr>
            <a:r>
              <a:rPr lang="es-ES" sz="1900" b="1" dirty="0">
                <a:ea typeface="+mn-lt"/>
                <a:cs typeface="+mn-lt"/>
              </a:rPr>
              <a:t>Lógica Temporal: </a:t>
            </a:r>
            <a:r>
              <a:rPr lang="es-ES" sz="1900" dirty="0">
                <a:ea typeface="+mn-lt"/>
                <a:cs typeface="+mn-lt"/>
              </a:rPr>
              <a:t>Uso de </a:t>
            </a:r>
            <a:r>
              <a:rPr lang="es-ES" sz="1900" dirty="0">
                <a:latin typeface="Consolas"/>
              </a:rPr>
              <a:t>CURDATE()</a:t>
            </a:r>
            <a:r>
              <a:rPr lang="es-ES" sz="1900" dirty="0">
                <a:ea typeface="+mn-lt"/>
                <a:cs typeface="+mn-lt"/>
              </a:rPr>
              <a:t> para identificar huéspedes activos o </a:t>
            </a:r>
            <a:r>
              <a:rPr lang="es-ES" sz="1900" dirty="0">
                <a:latin typeface="Consolas"/>
              </a:rPr>
              <a:t>DATE_ADD()</a:t>
            </a:r>
            <a:r>
              <a:rPr lang="es-ES" sz="1900" dirty="0">
                <a:ea typeface="+mn-lt"/>
                <a:cs typeface="+mn-lt"/>
              </a:rPr>
              <a:t> para proyectar vencimientos de reservas.</a:t>
            </a:r>
            <a:endParaRPr lang="es-ES" sz="1900" dirty="0">
              <a:solidFill>
                <a:srgbClr val="FFFFFF">
                  <a:alpha val="60000"/>
                </a:srgbClr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s-ES" sz="1900" b="1" dirty="0">
                <a:ea typeface="+mn-lt"/>
                <a:cs typeface="+mn-lt"/>
              </a:rPr>
              <a:t>Supervisión De Empleados y Reservas: </a:t>
            </a:r>
            <a:r>
              <a:rPr lang="es-ES" sz="1900" dirty="0">
                <a:ea typeface="+mn-lt"/>
                <a:cs typeface="+mn-lt"/>
              </a:rPr>
              <a:t>En este usamos </a:t>
            </a:r>
            <a:r>
              <a:rPr lang="es-ES" sz="1900" dirty="0">
                <a:latin typeface="Consolas"/>
                <a:ea typeface="+mn-lt"/>
                <a:cs typeface="+mn-lt"/>
              </a:rPr>
              <a:t>COUNT</a:t>
            </a:r>
            <a:r>
              <a:rPr lang="es-ES" sz="1900" dirty="0">
                <a:latin typeface="Consolas"/>
              </a:rPr>
              <a:t>(DISTINCT...)</a:t>
            </a:r>
            <a:r>
              <a:rPr lang="es-ES" sz="1900" dirty="0">
                <a:ea typeface="+mn-lt"/>
                <a:cs typeface="+mn-lt"/>
              </a:rPr>
              <a:t> en la tabla de enlace (</a:t>
            </a:r>
            <a:r>
              <a:rPr lang="es-ES" sz="1900" dirty="0" err="1">
                <a:latin typeface="Consolas"/>
              </a:rPr>
              <a:t>empleado_reserva</a:t>
            </a:r>
            <a:r>
              <a:rPr lang="es-ES" sz="1900" dirty="0">
                <a:ea typeface="+mn-lt"/>
                <a:cs typeface="+mn-lt"/>
              </a:rPr>
              <a:t>) para cuantificar reservas atendidas por cada empleado.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22523753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A83CE-36BE-7433-E525-054A63E2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7E9956-7D8E-0BE0-E96C-1CAE93C04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s-ES" dirty="0">
                <a:ea typeface="+mn-lt"/>
                <a:cs typeface="+mn-lt"/>
              </a:rPr>
              <a:t>Se diseñó e implementó con éxito una Base de Datos relacional completa y funcional capaz de gestionar múltiples establecimientos.</a:t>
            </a:r>
            <a:endParaRPr lang="es-ES" dirty="0">
              <a:solidFill>
                <a:srgbClr val="FFFFFF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s-ES" dirty="0">
                <a:solidFill>
                  <a:srgbClr val="FFFFFF">
                    <a:alpha val="60000"/>
                  </a:srgbClr>
                </a:solidFill>
                <a:ea typeface="+mn-lt"/>
                <a:cs typeface="+mn-lt"/>
              </a:rPr>
              <a:t>La base de datos está lista para usarse y provee toda la </a:t>
            </a:r>
            <a:r>
              <a:rPr lang="es-ES" b="1" dirty="0">
                <a:solidFill>
                  <a:srgbClr val="FFFFFF">
                    <a:alpha val="60000"/>
                  </a:srgbClr>
                </a:solidFill>
                <a:ea typeface="+mn-lt"/>
                <a:cs typeface="+mn-lt"/>
              </a:rPr>
              <a:t>información </a:t>
            </a:r>
            <a:r>
              <a:rPr lang="es-ES" dirty="0">
                <a:solidFill>
                  <a:srgbClr val="FFFFFF">
                    <a:alpha val="60000"/>
                  </a:srgbClr>
                </a:solidFill>
                <a:ea typeface="+mn-lt"/>
                <a:cs typeface="+mn-lt"/>
              </a:rPr>
              <a:t>estratégica necesaria para la toma de decisiones. </a:t>
            </a:r>
          </a:p>
          <a:p>
            <a:r>
              <a:rPr lang="es-ES" dirty="0">
                <a:solidFill>
                  <a:srgbClr val="FFFFFF">
                    <a:alpha val="60000"/>
                  </a:srgbClr>
                </a:solidFill>
                <a:ea typeface="+mn-lt"/>
                <a:cs typeface="+mn-lt"/>
              </a:rPr>
              <a:t>El diseño es versátil y posee un amplio futuro para ser </a:t>
            </a:r>
            <a:r>
              <a:rPr lang="es-ES" b="1" dirty="0">
                <a:solidFill>
                  <a:srgbClr val="FFFFFF">
                    <a:alpha val="60000"/>
                  </a:srgbClr>
                </a:solidFill>
                <a:ea typeface="+mn-lt"/>
                <a:cs typeface="+mn-lt"/>
              </a:rPr>
              <a:t>escalado</a:t>
            </a:r>
            <a:r>
              <a:rPr lang="es-ES" dirty="0">
                <a:solidFill>
                  <a:srgbClr val="FFFFFF">
                    <a:alpha val="60000"/>
                  </a:srgbClr>
                </a:solidFill>
                <a:ea typeface="+mn-lt"/>
                <a:cs typeface="+mn-lt"/>
              </a:rPr>
              <a:t>, facilitando la incorporación de nuevas entidades, restricciones y lógica de negocio.</a:t>
            </a:r>
            <a:endParaRPr lang="es-ES" dirty="0">
              <a:solidFill>
                <a:srgbClr val="FFFFFF">
                  <a:alpha val="60000"/>
                </a:srgbClr>
              </a:solidFill>
            </a:endParaRPr>
          </a:p>
          <a:p>
            <a:endParaRPr lang="es-ES" dirty="0">
              <a:solidFill>
                <a:srgbClr val="FFFFFF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6902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0594E-13FF-4CDA-A5C5-5F1A9B782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00" y="2763000"/>
            <a:ext cx="11091600" cy="1332000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>
                <a:latin typeface="Arial Black" panose="020B0A04020102020204" pitchFamily="34" charset="0"/>
              </a:rPr>
              <a:t>GRACIAS POR VER</a:t>
            </a:r>
            <a:br>
              <a:rPr lang="es-AR" b="1" dirty="0"/>
            </a:b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9980844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347</TotalTime>
  <Words>338</Words>
  <Application>Microsoft Office PowerPoint</Application>
  <PresentationFormat>Panorámica</PresentationFormat>
  <Paragraphs>27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Avenir Next LT Pro</vt:lpstr>
      <vt:lpstr>Consolas</vt:lpstr>
      <vt:lpstr>3DFloatVTI</vt:lpstr>
      <vt:lpstr>Proyecto: Diseño e Implementación de Base de Datos Hotelera</vt:lpstr>
      <vt:lpstr>Presentación de PowerPoint</vt:lpstr>
      <vt:lpstr>Presentación de PowerPoint</vt:lpstr>
      <vt:lpstr>Presentación de PowerPoint</vt:lpstr>
      <vt:lpstr>Integridad y Relaciones</vt:lpstr>
      <vt:lpstr>Automatización de Reglas y Control de Integridad</vt:lpstr>
      <vt:lpstr>Consultas Estratégicas y Lógica Temporal</vt:lpstr>
      <vt:lpstr>Conclusión</vt:lpstr>
      <vt:lpstr>GRACIAS POR VER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Franco Crovetto</dc:creator>
  <cp:lastModifiedBy>Alumno</cp:lastModifiedBy>
  <cp:revision>145</cp:revision>
  <dcterms:created xsi:type="dcterms:W3CDTF">2025-11-12T00:14:00Z</dcterms:created>
  <dcterms:modified xsi:type="dcterms:W3CDTF">2025-11-17T12:53:38Z</dcterms:modified>
</cp:coreProperties>
</file>